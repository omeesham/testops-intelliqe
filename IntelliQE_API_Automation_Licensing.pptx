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2801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API Automation — Licensing &amp;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E4DCFB"/>
                </a:solidFill>
                <a:latin typeface="Calibri"/>
              </a:rPr>
              <a:t>All 88 tools grouped by what they cost to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937760"/>
            <a:ext cx="105156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Premium (needs a paid license / paid service / external API key)  ·  22 tools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9CFF7"/>
                </a:solidFill>
                <a:latin typeface="Calibri"/>
              </a:rPr>
              <a:t>Free &amp; self-contained (runs with IntelliQE + your target API)  ·  66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1B2E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55566"/>
                </a:solidFill>
                <a:latin typeface="Calibri"/>
              </a:rPr>
              <a:t>“Premium” means the tool needs something the customer pays for or provisions outside IntelliQE. Everything else runs free against the API under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5486400" cy="1371600"/>
          </a:xfrm>
          <a:prstGeom prst="roundRect">
            <a:avLst/>
          </a:prstGeom>
          <a:solidFill>
            <a:srgbClr val="FFF4E6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40"/>
            <a:ext cx="118872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5120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59E0B"/>
                </a:solidFill>
                <a:latin typeface="Calibri"/>
              </a:rPr>
              <a:t>22  </a:t>
            </a:r>
            <a:r>
              <a:rPr sz="1700" b="1">
                <a:solidFill>
                  <a:srgbClr val="1E1B2E"/>
                </a:solidFill>
                <a:latin typeface="Calibri"/>
              </a:rPr>
              <a:t>Premium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Paid license, paid SaaS, or external API keys / credentials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91640"/>
            <a:ext cx="5440680" cy="1371600"/>
          </a:xfrm>
          <a:prstGeom prst="roundRect">
            <a:avLst/>
          </a:prstGeom>
          <a:solidFill>
            <a:srgbClr val="ECFAF4"/>
          </a:solidFill>
          <a:ln w="1651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691640"/>
            <a:ext cx="118872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47088"/>
            <a:ext cx="51206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0B981"/>
                </a:solidFill>
                <a:latin typeface="Calibri"/>
              </a:rPr>
              <a:t>66  </a:t>
            </a:r>
            <a:r>
              <a:rPr sz="1700" b="1">
                <a:solidFill>
                  <a:srgbClr val="1E1B2E"/>
                </a:solidFill>
                <a:latin typeface="Calibri"/>
              </a:rPr>
              <a:t>Free &amp; self-contained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No paid dependency — IntelliQE + the API you are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1B2E"/>
                </a:solidFill>
                <a:latin typeface="Calibri"/>
              </a:rPr>
              <a:t>Why a tool is premium — 5 dependency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40480"/>
            <a:ext cx="217627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840480"/>
            <a:ext cx="217627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096512"/>
            <a:ext cx="190195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7C3AED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09160"/>
            <a:ext cx="1865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E1B2E"/>
                </a:solidFill>
                <a:latin typeface="Calibri"/>
              </a:rPr>
              <a:t>AI / LLM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212080"/>
            <a:ext cx="1847088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66"/>
                </a:solidFill>
                <a:latin typeface="Calibri"/>
              </a:rPr>
              <a:t>Anthropic / OpenAI / Azure / Gemini — all AI-authoring &amp; AI-judge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3840480"/>
            <a:ext cx="217627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07208" y="3840480"/>
            <a:ext cx="2176272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0088" y="4096512"/>
            <a:ext cx="190195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43F5E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4709160"/>
            <a:ext cx="1865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E1B2E"/>
                </a:solidFill>
                <a:latin typeface="Calibri"/>
              </a:rPr>
              <a:t>Paid QA 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0088" y="5212080"/>
            <a:ext cx="1847088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66"/>
                </a:solidFill>
                <a:latin typeface="Calibri"/>
              </a:rPr>
              <a:t>BrowserStack / LambdaTest · TestRail / Xray / Zephyr / qTest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7488" y="3840480"/>
            <a:ext cx="217627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47488" y="3840480"/>
            <a:ext cx="2176272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4096512"/>
            <a:ext cx="190195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A5E9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4709160"/>
            <a:ext cx="1865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E1B2E"/>
                </a:solidFill>
                <a:latin typeface="Calibri"/>
              </a:rPr>
              <a:t>Cloud secrets / SSO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5212080"/>
            <a:ext cx="1847088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66"/>
                </a:solidFill>
                <a:latin typeface="Calibri"/>
              </a:rPr>
              <a:t>Vault / AWS / Azure / GCP · enterprise SSO &amp; SCIM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87768" y="3840480"/>
            <a:ext cx="217627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87768" y="3840480"/>
            <a:ext cx="2176272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4096512"/>
            <a:ext cx="190195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4709160"/>
            <a:ext cx="1865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E1B2E"/>
                </a:solidFill>
                <a:latin typeface="Calibri"/>
              </a:rPr>
              <a:t>External infra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5212080"/>
            <a:ext cx="1847088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66"/>
                </a:solidFill>
                <a:latin typeface="Calibri"/>
              </a:rPr>
              <a:t>A database, Kafka, a tracing backend, or remote load agents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28048" y="3840480"/>
            <a:ext cx="2176272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28048" y="3840480"/>
            <a:ext cx="2176272" cy="109728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0928" y="4096512"/>
            <a:ext cx="1901952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946E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928" y="4709160"/>
            <a:ext cx="1865376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E1B2E"/>
                </a:solidFill>
                <a:latin typeface="Calibri"/>
              </a:rPr>
              <a:t>Git host 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5212080"/>
            <a:ext cx="1847088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566"/>
                </a:solidFill>
                <a:latin typeface="Calibri"/>
              </a:rPr>
              <a:t>A GitHub / GitLab token to open PRs or sync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9144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E1B2E"/>
                </a:solidFill>
                <a:latin typeface="Calibri"/>
              </a:rPr>
              <a:t>Premium — needs a paid license / service / API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28016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84048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22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These deliver their value only once you supply the external, paid dependency shown.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36576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91440" cy="3840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6304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AI / LLM key  · 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28800"/>
            <a:ext cx="325526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LLM providers (OpenAI/Azure/Gemini)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AI coworker (Atto)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Autopilot (autonomous loop)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Story-driven generation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Multimodal inputs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Author in plain English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Chat-to-test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Semantic assertion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Semantic self-healing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AI / LLM &amp; MCP testing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LLM eval harness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7160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71600"/>
            <a:ext cx="91440" cy="38404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63040"/>
            <a:ext cx="3246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External infra  · 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28800"/>
            <a:ext cx="32095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4B8A6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Events &amp; gRPC (Kafka broker)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4B8A6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Database validation (DB credentials)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4B8A6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Trace correlation (Jaeger / Zipkin / Tempo)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4B8A6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Distributed cloud load (remote agents)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4B8A6"/>
                </a:solidFill>
                <a:latin typeface="Calibri"/>
              </a:rPr>
              <a:t>■ </a:t>
            </a:r>
            <a:r>
              <a:rPr sz="1150">
                <a:solidFill>
                  <a:srgbClr val="1E1B2E"/>
                </a:solidFill>
                <a:latin typeface="Calibri"/>
              </a:rPr>
              <a:t>Geo / distributed load (region proxies)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5021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91440" cy="12344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463040"/>
            <a:ext cx="31363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43F5E"/>
                </a:solidFill>
                <a:latin typeface="Calibri"/>
              </a:rPr>
              <a:t>Paid QA SaaS  · 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28800"/>
            <a:ext cx="3099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Cloud browser lab (BrowserStack / LambdaTest)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TM connectors (TestRail / Xray / Zephyr / qTest)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697480"/>
            <a:ext cx="35021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697480"/>
            <a:ext cx="91440" cy="1188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2788920"/>
            <a:ext cx="31363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Cloud secrets / SSO  · 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154680"/>
            <a:ext cx="30998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OAuth &amp; secrets (Vault / AWS / Azure / GCP)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Access control (SSO / SCIM)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77640"/>
            <a:ext cx="350215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977640"/>
            <a:ext cx="91440" cy="123444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57616" y="4069080"/>
            <a:ext cx="313639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46EF"/>
                </a:solidFill>
                <a:latin typeface="Calibri"/>
              </a:rPr>
              <a:t>Git host token  · 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7616" y="4434840"/>
            <a:ext cx="30998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Remediation PR (GitHub / GitLab token)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Git-synced tests (repo token)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4406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Note: </a:t>
            </a:r>
            <a:r>
              <a:rPr sz="1200" b="0">
                <a:solidFill>
                  <a:srgbClr val="555566"/>
                </a:solidFill>
                <a:latin typeface="Calibri"/>
              </a:rPr>
              <a:t>Kafka, tracing backends and a database can be self-hosted free OSS, but still need an endpoint + credentials. The core generate→heal pipeline also needs an LLM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9144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E1B2E"/>
                </a:solidFill>
                <a:latin typeface="Calibri"/>
              </a:rPr>
              <a:t>Free &amp; self-contained  (1 of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28016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84048"/>
            <a:ext cx="12801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66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9611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Run with just IntelliQE and the API under test — no license, no external keys.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37160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91440" cy="4892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630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Generate &amp; author  · 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28800"/>
            <a:ext cx="234086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Coverage-guided generation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Stateful / white-box generation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Model-based generation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Synthetic data factory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Flow builder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Step groups library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Unified cross-layer test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7C3AED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Autonomous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37160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371600"/>
            <a:ext cx="91440" cy="48920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4630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43F5E"/>
                </a:solidFill>
                <a:latin typeface="Calibri"/>
              </a:rPr>
              <a:t>Security  · 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1828800"/>
            <a:ext cx="234086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Security scan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OWASP API Top-10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Fuzz / property test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Sequence fuzzing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Authorization (BOLA/BFLA)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Deep authorization &amp; exposure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Assertion strength (mutation)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Data classification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OpenAPI security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371600"/>
            <a:ext cx="26517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371600"/>
            <a:ext cx="91440" cy="4892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Performance  · 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224942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Load test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Load profile &amp; SLA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Distributed load ramp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59E0B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Chaos / resilience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15984" y="1371600"/>
            <a:ext cx="2624328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15984" y="1371600"/>
            <a:ext cx="91440" cy="4892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463040"/>
            <a:ext cx="22585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Calibri"/>
              </a:rPr>
              <a:t>Contracts &amp; virtualization  · 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28800"/>
            <a:ext cx="222199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Contract validation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Contract drift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Regression baselines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Breaking-change gate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Record &amp; replay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Pact broker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AsyncAPI contracts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Service virtualization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Hosted mock server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10B98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Contract proxy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"/>
            <a:ext cx="91440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E1B2E"/>
                </a:solidFill>
                <a:latin typeface="Calibri"/>
              </a:rPr>
              <a:t>Free &amp; self-contained 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55566"/>
                </a:solidFill>
                <a:latin typeface="Calibri"/>
              </a:rPr>
              <a:t>Coverage, protocols, governance and the full delivery lifecycle — all no-cost.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26974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91440" cy="4892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6304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Coverage &amp; intel  · 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828800"/>
            <a:ext cx="229514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Test coverage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Traffic coverage gaps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Test intelligence (flaky)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Change impact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Suite optimizer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0EA5E9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Data-correctness verify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371600"/>
            <a:ext cx="26974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371600"/>
            <a:ext cx="91440" cy="4892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46304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Protocols &amp; data  · 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828800"/>
            <a:ext cx="229514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6366F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Async &amp; streaming (WS/SSE)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6366F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Callback / webhook verification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6366F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Data-driven testing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6366F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Test data profiles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6366F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Traffic capture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6366F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Browser recorder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6366F1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MCP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71600"/>
            <a:ext cx="26974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371600"/>
            <a:ext cx="91440" cy="4892040"/>
          </a:xfrm>
          <a:prstGeom prst="rect">
            <a:avLst/>
          </a:prstGeom>
          <a:solidFill>
            <a:srgbClr val="D94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23317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46EF"/>
                </a:solidFill>
                <a:latin typeface="Calibri"/>
              </a:rPr>
              <a:t>Governance  · 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229514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API governance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Governance lint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Compliance packs (PCI/HIPAA/GDPR/PSD2)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AI-era compliance (EU AI Act/DORA)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AI cost / FinOps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On-prem / air-gapped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D946EF"/>
                </a:solidFill>
                <a:latin typeface="Calibri"/>
              </a:rPr>
              <a:t>■ </a:t>
            </a:r>
            <a:r>
              <a:rPr sz="1100">
                <a:solidFill>
                  <a:srgbClr val="1E1B2E"/>
                </a:solidFill>
                <a:latin typeface="Calibri"/>
              </a:rPr>
              <a:t>Full-code &amp; Monitoring-as-Code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1371600"/>
            <a:ext cx="26517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88552" y="1371600"/>
            <a:ext cx="91440" cy="489204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463040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43F5E"/>
                </a:solidFill>
                <a:latin typeface="Calibri"/>
              </a:rPr>
              <a:t>Execution &amp; lifecycle  · 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828800"/>
            <a:ext cx="2249424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Schedules &amp; webhooks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CI / GitHub Action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Release gate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Parallel run queue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API + UI hybrid test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Monitoring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Public status page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Failure → fix workflow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Bug report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Audit log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Traceability matrix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Test management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Approvals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Collaboration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800">
                <a:solidFill>
                  <a:srgbClr val="F43F5E"/>
                </a:solidFill>
                <a:latin typeface="Calibri"/>
              </a:rPr>
              <a:t>■ </a:t>
            </a:r>
            <a:r>
              <a:rPr sz="1050">
                <a:solidFill>
                  <a:srgbClr val="1E1B2E"/>
                </a:solidFill>
                <a:latin typeface="Calibri"/>
              </a:rPr>
              <a:t>Evidence export (PDF)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E1B2E"/>
                </a:solidFill>
                <a:latin typeface="Calibri"/>
              </a:rPr>
              <a:t>How to read this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188720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07592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The line is “do you pay someone else?”  </a:t>
            </a:r>
            <a:r>
              <a:rPr sz="1250" b="0">
                <a:solidFill>
                  <a:srgbClr val="555566"/>
                </a:solidFill>
                <a:latin typeface="Calibri"/>
              </a:rPr>
              <a:t>Premium tools need a paid license, a paid SaaS subscription, or external API keys/credentials. Free tools need none of that.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76272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95144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“Free” is from IntelliQE’s side.  </a:t>
            </a:r>
            <a:r>
              <a:rPr sz="1250" b="0">
                <a:solidFill>
                  <a:srgbClr val="555566"/>
                </a:solidFill>
                <a:latin typeface="Calibri"/>
              </a:rPr>
              <a:t>You still bring the API you are testing. No tool here charges extra or calls a paid third party to do its core job.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63824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82696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Infra tools can be free OSS — but still external.  </a:t>
            </a:r>
            <a:r>
              <a:rPr sz="1250" b="0">
                <a:solidFill>
                  <a:srgbClr val="555566"/>
                </a:solidFill>
                <a:latin typeface="Calibri"/>
              </a:rPr>
              <a:t>Kafka, Jaeger/Zipkin and a database can be self-hosted at no license cost, yet they are grouped premium because they need an endpoint + credentials to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51376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70248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The AI engine itself is premium.  </a:t>
            </a:r>
            <a:r>
              <a:rPr sz="1250" b="0">
                <a:solidFill>
                  <a:srgbClr val="555566"/>
                </a:solidFill>
                <a:latin typeface="Calibri"/>
              </a:rPr>
              <a:t>The core generate → execute → heal pipeline and every AI-authoring tool consume an LLM API key — the main recurring cost of the platform.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38928"/>
            <a:ext cx="110642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2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Calibri"/>
              </a:rPr>
              <a:t>Git &amp; cloud-grid tools have free tiers.  </a:t>
            </a:r>
            <a:r>
              <a:rPr sz="1250" b="0">
                <a:solidFill>
                  <a:srgbClr val="555566"/>
                </a:solidFill>
                <a:latin typeface="Calibri"/>
              </a:rPr>
              <a:t>Remediation PR, git-sync, and the browser/load grids work on free accounts, but still require you to create and supply a token/key.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