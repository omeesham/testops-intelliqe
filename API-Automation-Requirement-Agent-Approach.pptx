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685800"/>
            <a:ext cx="256032" cy="256032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65836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A896"/>
                </a:solidFill>
                <a:latin typeface="Calibri"/>
              </a:rPr>
              <a:t>INTELLIQE  ·  TESTOPS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API Automation Requirement Agent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0" i="1">
                <a:solidFill>
                  <a:srgbClr val="CFE6EA"/>
                </a:solidFill>
                <a:latin typeface="Calibri"/>
              </a:rPr>
              <a:t>A checklist-driven approach to reviewed, traceable test requirements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029200"/>
            <a:ext cx="2697480" cy="1005840"/>
          </a:xfrm>
          <a:prstGeom prst="roundRect">
            <a:avLst>
              <a:gd name="adj" fmla="val 14000"/>
            </a:avLst>
          </a:prstGeom>
          <a:solidFill>
            <a:srgbClr val="123A4D"/>
          </a:solidFill>
          <a:ln w="12700">
            <a:solidFill>
              <a:srgbClr val="1E5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5230368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0B2A3B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5212080"/>
            <a:ext cx="1783080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Capture per endpoint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5029200"/>
            <a:ext cx="2697480" cy="1005840"/>
          </a:xfrm>
          <a:prstGeom prst="roundRect">
            <a:avLst>
              <a:gd name="adj" fmla="val 14000"/>
            </a:avLst>
          </a:prstGeom>
          <a:solidFill>
            <a:srgbClr val="123A4D"/>
          </a:solidFill>
          <a:ln w="12700">
            <a:solidFill>
              <a:srgbClr val="1E5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94176" y="5230368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0B2A3B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248" y="5212080"/>
            <a:ext cx="1783080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Link to source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5029200"/>
            <a:ext cx="2697480" cy="1005840"/>
          </a:xfrm>
          <a:prstGeom prst="roundRect">
            <a:avLst>
              <a:gd name="adj" fmla="val 14000"/>
            </a:avLst>
          </a:prstGeom>
          <a:solidFill>
            <a:srgbClr val="123A4D"/>
          </a:solidFill>
          <a:ln w="12700">
            <a:solidFill>
              <a:srgbClr val="1E5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7104" y="5230368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0B2A3B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3176" y="5212080"/>
            <a:ext cx="1783080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Review before planning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98864" y="5029200"/>
            <a:ext cx="2697480" cy="1005840"/>
          </a:xfrm>
          <a:prstGeom prst="roundRect">
            <a:avLst>
              <a:gd name="adj" fmla="val 14000"/>
            </a:avLst>
          </a:prstGeom>
          <a:solidFill>
            <a:srgbClr val="123A4D"/>
          </a:solidFill>
          <a:ln w="12700">
            <a:solidFill>
              <a:srgbClr val="1E5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00032" y="5230368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0B2A3B"/>
                </a:solidFill>
                <a:latin typeface="Cambr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76104" y="5212080"/>
            <a:ext cx="1783080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Sign off in real env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2E35"/>
                </a:solidFill>
                <a:latin typeface="Cambria"/>
              </a:rPr>
              <a:t>From spec-first import to requirement-first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5B6B70"/>
                </a:solidFill>
                <a:latin typeface="Calibri"/>
              </a:rPr>
              <a:t>The checklist asks for a reviewed requirement layer before any test is planned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002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2E35"/>
                </a:solidFill>
                <a:latin typeface="Calibri"/>
              </a:rPr>
              <a:t>Today API Automation pulls specs (OpenAPI, Postman, cURL, GraphQL…) straight into an endpoint catalogue and generates tests. The checklist adds a captured, source-linked, human-reviewed requirement step in front of planning.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5257800" cy="356616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2700">
            <a:solidFill>
              <a:srgbClr val="D6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5257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B6B70"/>
                </a:solidFill>
                <a:latin typeface="Calibri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709160" cy="2834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A2E35"/>
                </a:solidFill>
                <a:latin typeface="Calibri"/>
              </a:rPr>
              <a:t>•  Import is spec/endpoint-first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A2E35"/>
                </a:solidFill>
                <a:latin typeface="Calibri"/>
              </a:rPr>
              <a:t>•  Endpoints land in a catalogue, then tests are generated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A2E35"/>
                </a:solidFill>
                <a:latin typeface="Calibri"/>
              </a:rPr>
              <a:t>•  StoryGen can turn pasted text into test ideas — but needs endpoints first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A2E35"/>
                </a:solidFill>
                <a:latin typeface="Calibri"/>
              </a:rPr>
              <a:t>•  No captured "requirement" record, no source link, no review gate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514600"/>
            <a:ext cx="5257800" cy="3566160"/>
          </a:xfrm>
          <a:prstGeom prst="roundRect">
            <a:avLst>
              <a:gd name="adj" fmla="val 8000"/>
            </a:avLst>
          </a:prstGeom>
          <a:solidFill>
            <a:srgbClr val="E8F6F4"/>
          </a:solidFill>
          <a:ln w="12700">
            <a:solidFill>
              <a:srgbClr val="B8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697480"/>
            <a:ext cx="5257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28090"/>
                </a:solidFill>
                <a:latin typeface="Calibri"/>
              </a:rPr>
              <a:t>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108960"/>
            <a:ext cx="4709160" cy="2834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A2E35"/>
                </a:solidFill>
                <a:latin typeface="Calibri"/>
              </a:rPr>
              <a:t>•  A Requirement Agent captures one structured requirement per endpoint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A2E35"/>
                </a:solidFill>
                <a:latin typeface="Calibri"/>
              </a:rPr>
              <a:t>•  Each links back to its spec section or Jira key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A2E35"/>
                </a:solidFill>
                <a:latin typeface="Calibri"/>
              </a:rPr>
              <a:t>•  A reviewer edits or rejects before planning starts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A2E35"/>
                </a:solidFill>
                <a:latin typeface="Calibri"/>
              </a:rPr>
              <a:t>•  Approved suite is run and signed off in a customer-similar environment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2E35"/>
                </a:solidFill>
                <a:latin typeface="Cambria"/>
              </a:rPr>
              <a:t>The acceptance checklist — our definition of done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349240" cy="224028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2700">
            <a:solidFill>
              <a:srgbClr val="D6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205740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84832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A2E35"/>
                </a:solidFill>
                <a:latin typeface="Cambria"/>
              </a:rPr>
              <a:t>Capture per 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651760"/>
            <a:ext cx="38862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B6B70"/>
                </a:solidFill>
                <a:latin typeface="Calibri"/>
              </a:rPr>
              <a:t>For every endpoint: purpose, inputs, expected responses and business rules are captured.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49240" cy="224028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2700">
            <a:solidFill>
              <a:srgbClr val="D6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37960" y="2057400"/>
            <a:ext cx="640080" cy="64008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084832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A2E35"/>
                </a:solidFill>
                <a:latin typeface="Cambria"/>
              </a:rPr>
              <a:t>Traceability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651760"/>
            <a:ext cx="38862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B6B70"/>
                </a:solidFill>
                <a:latin typeface="Calibri"/>
              </a:rPr>
              <a:t>Each requirement links back to its source — spec section or Jira key.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06240"/>
            <a:ext cx="5349240" cy="224028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2700">
            <a:solidFill>
              <a:srgbClr val="D6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20" y="4526280"/>
            <a:ext cx="640080" cy="64008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553712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A2E35"/>
                </a:solidFill>
                <a:latin typeface="Cambria"/>
              </a:rPr>
              <a:t>Reviewable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120640"/>
            <a:ext cx="38862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B6B70"/>
                </a:solidFill>
                <a:latin typeface="Calibri"/>
              </a:rPr>
              <a:t>A reviewer can edit or reject items before planning starts.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06240"/>
            <a:ext cx="5349240" cy="224028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2700">
            <a:solidFill>
              <a:srgbClr val="D6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37960" y="452628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0B2A3B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553712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A2E35"/>
                </a:solidFill>
                <a:latin typeface="Cambria"/>
              </a:rPr>
              <a:t>Signed 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5120640"/>
            <a:ext cx="38862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B6B70"/>
                </a:solidFill>
                <a:latin typeface="Calibri"/>
              </a:rPr>
              <a:t>Feature is tested and signed off in a customer-similar environment.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2E35"/>
                </a:solidFill>
                <a:latin typeface="Cambria"/>
              </a:rPr>
              <a:t>What already exists vs. what to add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5B6B70"/>
                </a:solidFill>
                <a:latin typeface="Calibri"/>
              </a:rPr>
              <a:t>Most of the plumbing is in IntelliQE — the gap is the requirement layer and the 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257800" cy="4480560"/>
          </a:xfrm>
          <a:prstGeom prst="roundRect">
            <a:avLst>
              <a:gd name="adj" fmla="val 8000"/>
            </a:avLst>
          </a:prstGeom>
          <a:solidFill>
            <a:srgbClr val="E8F6F4"/>
          </a:solidFill>
          <a:ln w="12700">
            <a:solidFill>
              <a:srgbClr val="B8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5257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28090"/>
                </a:solidFill>
                <a:latin typeface="Calibri"/>
              </a:rPr>
              <a:t>ALREADY IN INTELLIQE — REUSE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4709160" cy="37490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A2E35"/>
                </a:solidFill>
                <a:latin typeface="Calibri"/>
              </a:rPr>
              <a:t>•  requirementAgent / StoryGen — story → acceptance criteria → brief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A2E35"/>
                </a:solidFill>
                <a:latin typeface="Calibri"/>
              </a:rPr>
              <a:t>•  api_requirements table + traceability matrix (buildMatrix: requirement → case → defect)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A2E35"/>
                </a:solidFill>
                <a:latin typeface="Calibri"/>
              </a:rPr>
              <a:t>•  Source connectors already used by the Web flow — Jira, Azure DevOps, Confluence, SharePoint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A2E35"/>
                </a:solidFill>
                <a:latin typeface="Calibri"/>
              </a:rPr>
              <a:t>•  Endpoint import (OpenAPI, Postman, cURL, GraphQL, docs-URL AI read)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A2E35"/>
                </a:solidFill>
                <a:latin typeface="Calibri"/>
              </a:rPr>
              <a:t>•  EnvironmentPicker + run execution + evidence export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83080"/>
            <a:ext cx="5257800" cy="448056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2700">
            <a:solidFill>
              <a:srgbClr val="D6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965960"/>
            <a:ext cx="5257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2B705"/>
                </a:solidFill>
                <a:latin typeface="Calibri"/>
              </a:rPr>
              <a:t>TO ADD —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423160"/>
            <a:ext cx="4709160" cy="37490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A2E35"/>
                </a:solidFill>
                <a:latin typeface="Calibri"/>
              </a:rPr>
              <a:t>•  Structured per-endpoint requirement schema (purpose, inputs, expected responses, business rules)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A2E35"/>
                </a:solidFill>
                <a:latin typeface="Calibri"/>
              </a:rPr>
              <a:t>•  Source-link capture on every requirement (spec §anchor / Jira key)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A2E35"/>
                </a:solidFill>
                <a:latin typeface="Calibri"/>
              </a:rPr>
              <a:t>•  Reviewer edit / reject gate UI, with status draft → approved / rejected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A2E35"/>
                </a:solidFill>
                <a:latin typeface="Calibri"/>
              </a:rPr>
              <a:t>•  Planner consumes approved requirements only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A2E35"/>
                </a:solidFill>
                <a:latin typeface="Calibri"/>
              </a:rPr>
              <a:t>•  Customer-similar environment run + explicit sign-off record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Recommended approach — a reviewed requirement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00A896"/>
                </a:solidFill>
                <a:latin typeface="Calibri"/>
              </a:rPr>
              <a:t>Checklist items map onto the stages that satisfy them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834640"/>
            <a:ext cx="1627632" cy="1783080"/>
          </a:xfrm>
          <a:prstGeom prst="roundRect">
            <a:avLst>
              <a:gd name="adj" fmla="val 10000"/>
            </a:avLst>
          </a:prstGeom>
          <a:solidFill>
            <a:srgbClr val="123A4D"/>
          </a:solidFill>
          <a:ln w="12700">
            <a:solidFill>
              <a:srgbClr val="235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017520"/>
            <a:ext cx="1408176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886200"/>
            <a:ext cx="1408176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BFDDE2"/>
                </a:solidFill>
                <a:latin typeface="Calibri"/>
              </a:rPr>
              <a:t>Spec / Jira / doc / URL</a:t>
            </a:r>
          </a:p>
        </p:txBody>
      </p:sp>
      <p:sp>
        <p:nvSpPr>
          <p:cNvPr id="8" name="Chevron 7"/>
          <p:cNvSpPr/>
          <p:nvPr/>
        </p:nvSpPr>
        <p:spPr>
          <a:xfrm>
            <a:off x="2194560" y="3493008"/>
            <a:ext cx="201168" cy="457200"/>
          </a:xfrm>
          <a:prstGeom prst="chevron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14016" y="2834640"/>
            <a:ext cx="1627632" cy="1783080"/>
          </a:xfrm>
          <a:prstGeom prst="roundRect">
            <a:avLst>
              <a:gd name="adj" fmla="val 10000"/>
            </a:avLst>
          </a:prstGeom>
          <a:solidFill>
            <a:srgbClr val="123A4D"/>
          </a:solidFill>
          <a:ln w="12700">
            <a:solidFill>
              <a:srgbClr val="235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23744" y="3017520"/>
            <a:ext cx="1408176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Requirement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3744" y="3886200"/>
            <a:ext cx="1408176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BFDDE2"/>
                </a:solidFill>
                <a:latin typeface="Calibri"/>
              </a:rPr>
              <a:t>Structured capture</a:t>
            </a:r>
          </a:p>
        </p:txBody>
      </p:sp>
      <p:sp>
        <p:nvSpPr>
          <p:cNvPr id="12" name="Oval 11"/>
          <p:cNvSpPr/>
          <p:nvPr/>
        </p:nvSpPr>
        <p:spPr>
          <a:xfrm>
            <a:off x="3584448" y="2670048"/>
            <a:ext cx="384048" cy="384048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B2A3B"/>
                </a:solidFill>
                <a:latin typeface="Cambria"/>
              </a:rPr>
              <a:t>1</a:t>
            </a:r>
          </a:p>
        </p:txBody>
      </p:sp>
      <p:sp>
        <p:nvSpPr>
          <p:cNvPr id="13" name="Chevron 12"/>
          <p:cNvSpPr/>
          <p:nvPr/>
        </p:nvSpPr>
        <p:spPr>
          <a:xfrm>
            <a:off x="4059936" y="3493008"/>
            <a:ext cx="201168" cy="457200"/>
          </a:xfrm>
          <a:prstGeom prst="chevron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79392" y="2834640"/>
            <a:ext cx="1627632" cy="1783080"/>
          </a:xfrm>
          <a:prstGeom prst="roundRect">
            <a:avLst>
              <a:gd name="adj" fmla="val 10000"/>
            </a:avLst>
          </a:prstGeom>
          <a:solidFill>
            <a:srgbClr val="123A4D"/>
          </a:solidFill>
          <a:ln w="12700">
            <a:solidFill>
              <a:srgbClr val="235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3017520"/>
            <a:ext cx="1408176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Review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886200"/>
            <a:ext cx="1408176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BFDDE2"/>
                </a:solidFill>
                <a:latin typeface="Calibri"/>
              </a:rPr>
              <a:t>Edit / reject</a:t>
            </a:r>
          </a:p>
        </p:txBody>
      </p:sp>
      <p:sp>
        <p:nvSpPr>
          <p:cNvPr id="17" name="Oval 16"/>
          <p:cNvSpPr/>
          <p:nvPr/>
        </p:nvSpPr>
        <p:spPr>
          <a:xfrm>
            <a:off x="5449824" y="2670048"/>
            <a:ext cx="384048" cy="384048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B2A3B"/>
                </a:solidFill>
                <a:latin typeface="Cambria"/>
              </a:rPr>
              <a:t>3</a:t>
            </a:r>
          </a:p>
        </p:txBody>
      </p:sp>
      <p:sp>
        <p:nvSpPr>
          <p:cNvPr id="18" name="Chevron 17"/>
          <p:cNvSpPr/>
          <p:nvPr/>
        </p:nvSpPr>
        <p:spPr>
          <a:xfrm>
            <a:off x="5925312" y="3493008"/>
            <a:ext cx="201168" cy="457200"/>
          </a:xfrm>
          <a:prstGeom prst="chevron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44768" y="2834640"/>
            <a:ext cx="1627632" cy="1783080"/>
          </a:xfrm>
          <a:prstGeom prst="roundRect">
            <a:avLst>
              <a:gd name="adj" fmla="val 10000"/>
            </a:avLst>
          </a:prstGeom>
          <a:solidFill>
            <a:srgbClr val="123A4D"/>
          </a:solidFill>
          <a:ln w="12700">
            <a:solidFill>
              <a:srgbClr val="235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4496" y="3017520"/>
            <a:ext cx="1408176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Planner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3886200"/>
            <a:ext cx="1408176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BFDDE2"/>
                </a:solidFill>
                <a:latin typeface="Calibri"/>
              </a:rPr>
              <a:t>Approved only</a:t>
            </a:r>
          </a:p>
        </p:txBody>
      </p:sp>
      <p:sp>
        <p:nvSpPr>
          <p:cNvPr id="22" name="Chevron 21"/>
          <p:cNvSpPr/>
          <p:nvPr/>
        </p:nvSpPr>
        <p:spPr>
          <a:xfrm>
            <a:off x="7790688" y="3493008"/>
            <a:ext cx="201168" cy="457200"/>
          </a:xfrm>
          <a:prstGeom prst="chevron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10144" y="2834640"/>
            <a:ext cx="1627632" cy="1783080"/>
          </a:xfrm>
          <a:prstGeom prst="roundRect">
            <a:avLst>
              <a:gd name="adj" fmla="val 10000"/>
            </a:avLst>
          </a:prstGeom>
          <a:solidFill>
            <a:srgbClr val="123A4D"/>
          </a:solidFill>
          <a:ln w="12700">
            <a:solidFill>
              <a:srgbClr val="235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9872" y="3017520"/>
            <a:ext cx="1408176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Execute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3886200"/>
            <a:ext cx="1408176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BFDDE2"/>
                </a:solidFill>
                <a:latin typeface="Calibri"/>
              </a:rPr>
              <a:t>Customer-like env</a:t>
            </a:r>
          </a:p>
        </p:txBody>
      </p:sp>
      <p:sp>
        <p:nvSpPr>
          <p:cNvPr id="26" name="Oval 25"/>
          <p:cNvSpPr/>
          <p:nvPr/>
        </p:nvSpPr>
        <p:spPr>
          <a:xfrm>
            <a:off x="9180576" y="2670048"/>
            <a:ext cx="384048" cy="384048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B2A3B"/>
                </a:solidFill>
                <a:latin typeface="Cambria"/>
              </a:rPr>
              <a:t>4</a:t>
            </a:r>
          </a:p>
        </p:txBody>
      </p:sp>
      <p:sp>
        <p:nvSpPr>
          <p:cNvPr id="27" name="Chevron 26"/>
          <p:cNvSpPr/>
          <p:nvPr/>
        </p:nvSpPr>
        <p:spPr>
          <a:xfrm>
            <a:off x="9656064" y="3493008"/>
            <a:ext cx="201168" cy="457200"/>
          </a:xfrm>
          <a:prstGeom prst="chevron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0" y="2834640"/>
            <a:ext cx="1627632" cy="1783080"/>
          </a:xfrm>
          <a:prstGeom prst="roundRect">
            <a:avLst>
              <a:gd name="adj" fmla="val 10000"/>
            </a:avLst>
          </a:prstGeom>
          <a:solidFill>
            <a:srgbClr val="123A4D"/>
          </a:solidFill>
          <a:ln w="12700">
            <a:solidFill>
              <a:srgbClr val="235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85248" y="3017520"/>
            <a:ext cx="1408176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Sign-off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85248" y="3886200"/>
            <a:ext cx="1408176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BFDDE2"/>
                </a:solidFill>
                <a:latin typeface="Calibri"/>
              </a:rPr>
              <a:t>Reviewer + evidence</a:t>
            </a:r>
          </a:p>
        </p:txBody>
      </p:sp>
      <p:sp>
        <p:nvSpPr>
          <p:cNvPr id="31" name="Oval 30"/>
          <p:cNvSpPr/>
          <p:nvPr/>
        </p:nvSpPr>
        <p:spPr>
          <a:xfrm>
            <a:off x="11045952" y="2670048"/>
            <a:ext cx="384048" cy="384048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B2A3B"/>
                </a:solidFill>
                <a:latin typeface="Cambria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BFDDE2"/>
                </a:solidFill>
                <a:latin typeface="Calibri"/>
              </a:rPr>
              <a:t>Badges mark the checklist item each stage satisfies.  Item 2 (traceability) is carried on the requirement record itself, from capture all the way to sign-off.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75488"/>
            <a:ext cx="749808" cy="74980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4572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A2E35"/>
                </a:solidFill>
                <a:latin typeface="Cambria"/>
              </a:rPr>
              <a:t>Capture structured requirements per endpoint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1056" y="1115568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028090"/>
                </a:solidFill>
                <a:latin typeface="Calibri"/>
              </a:rPr>
              <a:t>Satisfies checklist item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28090"/>
                </a:solidFill>
                <a:latin typeface="Calibri"/>
              </a:rPr>
              <a:t>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9659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2E35"/>
                </a:solidFill>
                <a:latin typeface="Calibri"/>
              </a:rPr>
              <a:t>For every endpoint, record its purpose, inputs, expected responses and the business rules that govern it — as a first-class requirement, not just a generated test.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718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28090"/>
                </a:solidFill>
                <a:latin typeface="Calibri"/>
              </a:rPr>
              <a:t>How in IntelliQE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83280"/>
            <a:ext cx="10881360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1A2E35"/>
                </a:solidFill>
                <a:latin typeface="Calibri"/>
              </a:rPr>
              <a:t>•  Define an api_requirement shape with four fields: purpose, inputs, expectedResponses, businessRules.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1A2E35"/>
                </a:solidFill>
                <a:latin typeface="Calibri"/>
              </a:rPr>
              <a:t>•  Have the Requirement Agent (extend requirementAgent / StoryGen) read the chosen source and emit one structured requirement per endpoint.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1A2E35"/>
                </a:solidFill>
                <a:latin typeface="Calibri"/>
              </a:rPr>
              <a:t>•  Persist via the existing api_requirements table; one row per endpoint requirement, tenant-scoped.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806440"/>
            <a:ext cx="1120140" cy="457200"/>
          </a:xfrm>
          <a:prstGeom prst="roundRect">
            <a:avLst>
              <a:gd name="adj" fmla="val 50000"/>
            </a:avLst>
          </a:prstGeom>
          <a:solidFill>
            <a:srgbClr val="E8F6F4"/>
          </a:solidFill>
          <a:ln w="12700">
            <a:solidFill>
              <a:srgbClr val="B8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5806440"/>
            <a:ext cx="11201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Purpose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43100" y="5806440"/>
            <a:ext cx="1014984" cy="457200"/>
          </a:xfrm>
          <a:prstGeom prst="roundRect">
            <a:avLst>
              <a:gd name="adj" fmla="val 50000"/>
            </a:avLst>
          </a:prstGeom>
          <a:solidFill>
            <a:srgbClr val="E8F6F4"/>
          </a:solidFill>
          <a:ln w="12700">
            <a:solidFill>
              <a:srgbClr val="B8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43100" y="5806440"/>
            <a:ext cx="1014984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Inputs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22676" y="5806440"/>
            <a:ext cx="2276856" cy="457200"/>
          </a:xfrm>
          <a:prstGeom prst="roundRect">
            <a:avLst>
              <a:gd name="adj" fmla="val 50000"/>
            </a:avLst>
          </a:prstGeom>
          <a:solidFill>
            <a:srgbClr val="E8F6F4"/>
          </a:solidFill>
          <a:ln w="12700">
            <a:solidFill>
              <a:srgbClr val="B8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22676" y="5806440"/>
            <a:ext cx="227685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Expected responses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64124" y="5806440"/>
            <a:ext cx="1856232" cy="457200"/>
          </a:xfrm>
          <a:prstGeom prst="roundRect">
            <a:avLst>
              <a:gd name="adj" fmla="val 50000"/>
            </a:avLst>
          </a:prstGeom>
          <a:solidFill>
            <a:srgbClr val="E8F6F4"/>
          </a:solidFill>
          <a:ln w="12700">
            <a:solidFill>
              <a:srgbClr val="B8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64124" y="5806440"/>
            <a:ext cx="185623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Business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3550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B6B70"/>
                </a:solidFill>
                <a:latin typeface="Calibri"/>
              </a:rPr>
              <a:t>Start here — this record is what every later step reads, reviews, and signs off.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75488"/>
            <a:ext cx="749808" cy="749808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4572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A2E35"/>
                </a:solidFill>
                <a:latin typeface="Cambria"/>
              </a:rPr>
              <a:t>Link every requirement to its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1056" y="1115568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00A896"/>
                </a:solidFill>
                <a:latin typeface="Calibri"/>
              </a:rPr>
              <a:t>Satisfies checklist item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28090"/>
                </a:solidFill>
                <a:latin typeface="Calibri"/>
              </a:rPr>
              <a:t>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9659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2E35"/>
                </a:solidFill>
                <a:latin typeface="Calibri"/>
              </a:rPr>
              <a:t>Each captured requirement must point back to where it came from — a spec section or a Jira key — so coverage is auditable both ways.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718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28090"/>
                </a:solidFill>
                <a:latin typeface="Calibri"/>
              </a:rPr>
              <a:t>How in IntelliQE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83280"/>
            <a:ext cx="10881360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1A2E35"/>
                </a:solidFill>
                <a:latin typeface="Calibri"/>
              </a:rPr>
              <a:t>•  Add a source field on the requirement: { type, ref } e.g. openapi · paths./orders.post  or  jira · PAY-412.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1A2E35"/>
                </a:solidFill>
                <a:latin typeface="Calibri"/>
              </a:rPr>
              <a:t>•  Capture the anchor at import time (spec pointer, Jira/Azure/Confluence key from the connectors the Web flow already uses).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1A2E35"/>
                </a:solidFill>
                <a:latin typeface="Calibri"/>
              </a:rPr>
              <a:t>•  Surface it in the traceability matrix (reuse buildMatrix): requirement → source, and requirement → case → defect.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80644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E8F6F4"/>
          </a:solidFill>
          <a:ln w="12700">
            <a:solidFill>
              <a:srgbClr val="B8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580644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Spec section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5806440"/>
            <a:ext cx="1856232" cy="457200"/>
          </a:xfrm>
          <a:prstGeom prst="roundRect">
            <a:avLst>
              <a:gd name="adj" fmla="val 50000"/>
            </a:avLst>
          </a:prstGeom>
          <a:solidFill>
            <a:srgbClr val="E8F6F4"/>
          </a:solidFill>
          <a:ln w="12700">
            <a:solidFill>
              <a:srgbClr val="B8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5806440"/>
            <a:ext cx="185623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Jira / ADO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9704" y="5806440"/>
            <a:ext cx="1856232" cy="457200"/>
          </a:xfrm>
          <a:prstGeom prst="roundRect">
            <a:avLst>
              <a:gd name="adj" fmla="val 50000"/>
            </a:avLst>
          </a:prstGeom>
          <a:solidFill>
            <a:srgbClr val="E8F6F4"/>
          </a:solidFill>
          <a:ln w="12700">
            <a:solidFill>
              <a:srgbClr val="B8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5806440"/>
            <a:ext cx="185623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Two-way 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550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B6B70"/>
                </a:solidFill>
                <a:latin typeface="Calibri"/>
              </a:rPr>
              <a:t>Reuses the existing connectors and api-traceability.service — mostly wiring, little new logic.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75488"/>
            <a:ext cx="749808" cy="74980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4572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A2E35"/>
                </a:solidFill>
                <a:latin typeface="Cambria"/>
              </a:rPr>
              <a:t>Human review gate before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1056" y="1115568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02C39A"/>
                </a:solidFill>
                <a:latin typeface="Calibri"/>
              </a:rPr>
              <a:t>Satisfies checklist item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28090"/>
                </a:solidFill>
                <a:latin typeface="Calibri"/>
              </a:rPr>
              <a:t>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9659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2E35"/>
                </a:solidFill>
                <a:latin typeface="Calibri"/>
              </a:rPr>
              <a:t>A reviewer can edit or reject each requirement; only approved items flow into the planner, so nothing is planned from an unvetted requirement.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718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28090"/>
                </a:solidFill>
                <a:latin typeface="Calibri"/>
              </a:rPr>
              <a:t>How in IntelliQE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83280"/>
            <a:ext cx="10881360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1A2E35"/>
                </a:solidFill>
                <a:latin typeface="Calibri"/>
              </a:rPr>
              <a:t>•  Add a status to each requirement: draft → approved / rejected, with reviewer and timestamp.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1A2E35"/>
                </a:solidFill>
                <a:latin typeface="Calibri"/>
              </a:rPr>
              <a:t>•  Build a review table in API Studio: inline edit of the four fields, plus approve / reject per item.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1A2E35"/>
                </a:solidFill>
                <a:latin typeface="Calibri"/>
              </a:rPr>
              <a:t>•  Gate the pipeline — the planner (plannerAgent) consumes approved requirements only; rejected items are parked with a reason.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806440"/>
            <a:ext cx="1540764" cy="457200"/>
          </a:xfrm>
          <a:prstGeom prst="roundRect">
            <a:avLst>
              <a:gd name="adj" fmla="val 50000"/>
            </a:avLst>
          </a:prstGeom>
          <a:solidFill>
            <a:srgbClr val="E8F6F4"/>
          </a:solidFill>
          <a:ln w="12700">
            <a:solidFill>
              <a:srgbClr val="B8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5806440"/>
            <a:ext cx="1540764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Inline edit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63724" y="5806440"/>
            <a:ext cx="2066544" cy="457200"/>
          </a:xfrm>
          <a:prstGeom prst="roundRect">
            <a:avLst>
              <a:gd name="adj" fmla="val 50000"/>
            </a:avLst>
          </a:prstGeom>
          <a:solidFill>
            <a:srgbClr val="E8F6F4"/>
          </a:solidFill>
          <a:ln w="12700">
            <a:solidFill>
              <a:srgbClr val="B8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63724" y="5806440"/>
            <a:ext cx="2066544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Approve / reject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94860" y="5806440"/>
            <a:ext cx="1751076" cy="457200"/>
          </a:xfrm>
          <a:prstGeom prst="roundRect">
            <a:avLst>
              <a:gd name="adj" fmla="val 50000"/>
            </a:avLst>
          </a:prstGeom>
          <a:solidFill>
            <a:srgbClr val="E8F6F4"/>
          </a:solidFill>
          <a:ln w="12700">
            <a:solidFill>
              <a:srgbClr val="B8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4860" y="5806440"/>
            <a:ext cx="175107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Planner gated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550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B6B70"/>
                </a:solidFill>
                <a:latin typeface="Calibri"/>
              </a:rPr>
              <a:t>This is the main net-new UI. Keep it behind a feature flag until the flow is proven.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75488"/>
            <a:ext cx="749808" cy="749808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800" b="1">
                <a:solidFill>
                  <a:srgbClr val="0B2A3B"/>
                </a:solidFill>
                <a:latin typeface="Cambria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4572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A2E35"/>
                </a:solidFill>
                <a:latin typeface="Cambria"/>
              </a:rPr>
              <a:t>Test and sign off in a customer-similar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1056" y="1115568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B88A00"/>
                </a:solidFill>
                <a:latin typeface="Calibri"/>
              </a:rPr>
              <a:t>Satisfies checklist item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28090"/>
                </a:solidFill>
                <a:latin typeface="Calibri"/>
              </a:rPr>
              <a:t>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9659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2E35"/>
                </a:solidFill>
                <a:latin typeface="Calibri"/>
              </a:rPr>
              <a:t>Run the approved suite against a staging or customer-like environment, capture the evidence, and record an explicit sign-off before release.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718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28090"/>
                </a:solidFill>
                <a:latin typeface="Calibri"/>
              </a:rPr>
              <a:t>How in IntelliQE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83280"/>
            <a:ext cx="10881360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1A2E35"/>
                </a:solidFill>
                <a:latin typeface="Calibri"/>
              </a:rPr>
              <a:t>•  Target a customer-similar env via the existing EnvironmentPicker (staging / UAT base URL + secrets).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1A2E35"/>
                </a:solidFill>
                <a:latin typeface="Calibri"/>
              </a:rPr>
              <a:t>•  Execute the approved suite; attach run evidence (requests, responses, assertions) through evidence export.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1A2E35"/>
                </a:solidFill>
                <a:latin typeface="Calibri"/>
              </a:rPr>
              <a:t>•  Record a sign-off: reviewer, environment, timestamp, result — the release gate checks it is present and green.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806440"/>
            <a:ext cx="2171700" cy="457200"/>
          </a:xfrm>
          <a:prstGeom prst="roundRect">
            <a:avLst>
              <a:gd name="adj" fmla="val 50000"/>
            </a:avLst>
          </a:prstGeom>
          <a:solidFill>
            <a:srgbClr val="E8F6F4"/>
          </a:solidFill>
          <a:ln w="12700">
            <a:solidFill>
              <a:srgbClr val="B8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5806440"/>
            <a:ext cx="21717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Customer-like env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94660" y="5806440"/>
            <a:ext cx="2171700" cy="457200"/>
          </a:xfrm>
          <a:prstGeom prst="roundRect">
            <a:avLst>
              <a:gd name="adj" fmla="val 50000"/>
            </a:avLst>
          </a:prstGeom>
          <a:solidFill>
            <a:srgbClr val="E8F6F4"/>
          </a:solidFill>
          <a:ln w="12700">
            <a:solidFill>
              <a:srgbClr val="B8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4660" y="5806440"/>
            <a:ext cx="21717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Evidence captured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0952" y="5806440"/>
            <a:ext cx="2171700" cy="457200"/>
          </a:xfrm>
          <a:prstGeom prst="roundRect">
            <a:avLst>
              <a:gd name="adj" fmla="val 50000"/>
            </a:avLst>
          </a:prstGeom>
          <a:solidFill>
            <a:srgbClr val="E8F6F4"/>
          </a:solidFill>
          <a:ln w="12700">
            <a:solidFill>
              <a:srgbClr val="B8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0952" y="5806440"/>
            <a:ext cx="21717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Explicit sign-off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550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B6B70"/>
                </a:solidFill>
                <a:latin typeface="Calibri"/>
              </a:rPr>
              <a:t>Closes the loop — a feature is "done" only when signed off here, not when tests merely pass locally.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2E35"/>
                </a:solidFill>
                <a:latin typeface="Cambria"/>
              </a:rPr>
              <a:t>How to start — three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5B6B70"/>
                </a:solidFill>
                <a:latin typeface="Calibri"/>
              </a:rPr>
              <a:t>Sequenced so each phase ships value and unblocks the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611880" cy="420624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2700">
            <a:solidFill>
              <a:srgbClr val="D6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084832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B6B70"/>
                </a:solidFill>
                <a:latin typeface="Calibri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95728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A2E35"/>
                </a:solidFill>
                <a:latin typeface="Cambria"/>
              </a:rPr>
              <a:t>Foundations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306324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A2E35"/>
                </a:solidFill>
                <a:latin typeface="Calibri"/>
              </a:rPr>
              <a:t>•  Requirement schema (4 fields)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A2E35"/>
                </a:solidFill>
                <a:latin typeface="Calibri"/>
              </a:rPr>
              <a:t>•  Requirement Agent capture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A2E35"/>
                </a:solidFill>
                <a:latin typeface="Calibri"/>
              </a:rPr>
              <a:t>•  Source-link on each item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6636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28090"/>
                </a:solidFill>
                <a:latin typeface="Calibri"/>
              </a:rPr>
              <a:t>Covers  Checklist 1 + 2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3212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B6B70"/>
                </a:solidFill>
                <a:latin typeface="Calibri"/>
              </a:rPr>
              <a:t>Build first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8848" y="1828800"/>
            <a:ext cx="3611880" cy="420624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2700">
            <a:solidFill>
              <a:srgbClr val="D6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73168" y="210312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2084832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B6B70"/>
                </a:solidFill>
                <a:latin typeface="Calibri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67528" y="2395728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A2E35"/>
                </a:solidFill>
                <a:latin typeface="Cambria"/>
              </a:rPr>
              <a:t>Review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3200400"/>
            <a:ext cx="306324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A2E35"/>
                </a:solidFill>
                <a:latin typeface="Calibri"/>
              </a:rPr>
              <a:t>•  draft → approved / rejected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A2E35"/>
                </a:solidFill>
                <a:latin typeface="Calibri"/>
              </a:rPr>
              <a:t>•  Review table + inline edit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A2E35"/>
                </a:solidFill>
                <a:latin typeface="Calibri"/>
              </a:rPr>
              <a:t>•  Planner consumes approved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516636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A896"/>
                </a:solidFill>
                <a:latin typeface="Calibri"/>
              </a:rPr>
              <a:t>Covers  Checklist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553212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B6B70"/>
                </a:solidFill>
                <a:latin typeface="Calibri"/>
              </a:rPr>
              <a:t>Then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57616" y="1828800"/>
            <a:ext cx="3611880" cy="420624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2700">
            <a:solidFill>
              <a:srgbClr val="D6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31936" y="210312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0B2A3B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296" y="2084832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B6B70"/>
                </a:solidFill>
                <a:latin typeface="Calibri"/>
              </a:rP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6296" y="2395728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A2E35"/>
                </a:solidFill>
                <a:latin typeface="Cambria"/>
              </a:rPr>
              <a:t>Sign-off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1936" y="3200400"/>
            <a:ext cx="306324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A2E35"/>
                </a:solidFill>
                <a:latin typeface="Calibri"/>
              </a:rPr>
              <a:t>•  Customer-similar env run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A2E35"/>
                </a:solidFill>
                <a:latin typeface="Calibri"/>
              </a:rPr>
              <a:t>•  Evidence capture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A2E35"/>
                </a:solidFill>
                <a:latin typeface="Calibri"/>
              </a:rPr>
              <a:t>•  Sign-off + release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1936" y="516636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88A00"/>
                </a:solidFill>
                <a:latin typeface="Calibri"/>
              </a:rPr>
              <a:t>Covers  Checklist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31936" y="553212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B6B70"/>
                </a:solidFill>
                <a:latin typeface="Calibri"/>
              </a:rPr>
              <a:t>Last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2E35"/>
                </a:solidFill>
                <a:latin typeface="Cambria"/>
              </a:rPr>
              <a:t>Best place to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5B6B70"/>
                </a:solidFill>
                <a:latin typeface="Calibri"/>
              </a:rPr>
              <a:t>Where the effort pays back fastest, and what "done" looks like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6675120" cy="4343400"/>
          </a:xfrm>
          <a:prstGeom prst="roundRect">
            <a:avLst>
              <a:gd name="adj" fmla="val 8000"/>
            </a:avLst>
          </a:prstGeom>
          <a:solidFill>
            <a:srgbClr val="E8F6F4"/>
          </a:solidFill>
          <a:ln w="12700">
            <a:solidFill>
              <a:srgbClr val="B8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28090"/>
                </a:solidFill>
                <a:latin typeface="Cambria"/>
              </a:rPr>
              <a:t>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6172200" cy="3474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1A2E35"/>
                </a:solidFill>
                <a:latin typeface="Calibri"/>
              </a:rPr>
              <a:t>1.  Build Steps 1 + 2 together — structured capture plus the source link. They unblock everything else and lean on StoryGen and the traceability service you already have.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1A2E35"/>
                </a:solidFill>
                <a:latin typeface="Calibri"/>
              </a:rPr>
              <a:t>2.  Add the review gate (Step 3). This is the main new UI; ship it behind a feature flag so the spec-first flow keeps working.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1A2E35"/>
                </a:solidFill>
                <a:latin typeface="Calibri"/>
              </a:rPr>
              <a:t>3.  Wire the customer-similar environment and sign-off (Step 4) last — it reuses the environment picker and evidence export, and it is the release gate.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783080"/>
            <a:ext cx="3959352" cy="4343400"/>
          </a:xfrm>
          <a:prstGeom prst="roundRect">
            <a:avLst>
              <a:gd name="adj" fmla="val 8000"/>
            </a:avLst>
          </a:prstGeom>
          <a:solidFill>
            <a:srgbClr val="0B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201168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2B705"/>
                </a:solidFill>
                <a:latin typeface="Cambria"/>
              </a:rPr>
              <a:t>Definition of done</a:t>
            </a:r>
          </a:p>
        </p:txBody>
      </p:sp>
      <p:sp>
        <p:nvSpPr>
          <p:cNvPr id="10" name="Oval 9"/>
          <p:cNvSpPr/>
          <p:nvPr/>
        </p:nvSpPr>
        <p:spPr>
          <a:xfrm>
            <a:off x="7863840" y="2560320"/>
            <a:ext cx="310896" cy="31089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0B2A3B"/>
                </a:solidFill>
                <a:latin typeface="Cambria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532888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Every endpoint has a requirement with all four fields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0" y="3429000"/>
            <a:ext cx="310896" cy="31089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0B2A3B"/>
                </a:solidFill>
                <a:latin typeface="Cambria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401568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Every requirement links to a spec section or Jira key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0" y="4297680"/>
            <a:ext cx="310896" cy="31089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0B2A3B"/>
                </a:solidFill>
                <a:latin typeface="Cambria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4270248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A reviewer approved or rejected each item before planning</a:t>
            </a:r>
          </a:p>
        </p:txBody>
      </p:sp>
      <p:sp>
        <p:nvSpPr>
          <p:cNvPr id="16" name="Oval 15"/>
          <p:cNvSpPr/>
          <p:nvPr/>
        </p:nvSpPr>
        <p:spPr>
          <a:xfrm>
            <a:off x="7863840" y="5166360"/>
            <a:ext cx="310896" cy="31089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0B2A3B"/>
                </a:solidFill>
                <a:latin typeface="Cambria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5138928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The feature is signed off in a customer-similar env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685800"/>
            <a:ext cx="256032" cy="256032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65836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A896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Three moves to start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7432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0B2A3B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697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mbria"/>
              </a:rPr>
              <a:t>Approve the requirement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12724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7DFE4"/>
                </a:solidFill>
                <a:latin typeface="Calibri"/>
              </a:rPr>
              <a:t>Four fields plus a source link — the record every step reads.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79476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0B2A3B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7490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mbria"/>
              </a:rPr>
              <a:t>Build Phase 1 behind a flag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17880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7DFE4"/>
                </a:solidFill>
                <a:latin typeface="Calibri"/>
              </a:rPr>
              <a:t>Requirement Agent capture + source link, inside API Studio.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84632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0B2A3B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800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mbria"/>
              </a:rPr>
              <a:t>Add the review gate, then sign-off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23036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7DFE4"/>
                </a:solidFill>
                <a:latin typeface="Calibri"/>
              </a:rPr>
              <a:t>Human approval before planning; customer-similar env at the end.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72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1">
                <a:solidFill>
                  <a:srgbClr val="F2B705"/>
                </a:solidFill>
                <a:latin typeface="Calibri"/>
              </a:rPr>
              <a:t>Outcome: every endpoint has a reviewed, traceable requirement before a single test is planned.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