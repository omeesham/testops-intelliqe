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CADCFC"/>
                </a:solidFill>
                <a:latin typeface="Calibri"/>
              </a:rPr>
              <a:t>IntelliQE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78992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MVP2 Implementation Gap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86200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What the roadmap commits for MVP2 vs. what the IntelliQE codebase delivers today — the features still to build.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754880"/>
            <a:ext cx="3840480" cy="18288"/>
          </a:xfrm>
          <a:prstGeom prst="rect">
            <a:avLst/>
          </a:prstGeom>
          <a:solidFill>
            <a:srgbClr val="354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109728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ADCFC"/>
                </a:solidFill>
                <a:latin typeface="Calibri"/>
              </a:rPr>
              <a:t>Scope  </a:t>
            </a:r>
            <a:r>
              <a:rPr sz="1200" b="0" i="0">
                <a:solidFill>
                  <a:srgbClr val="AEB8D6"/>
                </a:solidFill>
                <a:latin typeface="Calibri"/>
              </a:rPr>
              <a:t>40 MVP2 features (IQE-035 – IQE-074)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ADCFC"/>
                </a:solidFill>
                <a:latin typeface="Calibri"/>
              </a:rPr>
              <a:t>Method  </a:t>
            </a:r>
            <a:r>
              <a:rPr sz="1200" b="0" i="0">
                <a:solidFill>
                  <a:srgbClr val="AEB8D6"/>
                </a:solidFill>
                <a:latin typeface="Calibri"/>
              </a:rPr>
              <a:t>code-evidence review across backend + frontend, adversarially verified</a:t>
            </a:r>
          </a:p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Owner  </a:t>
            </a:r>
            <a:r>
              <a:rPr sz="1200" b="0" i="0">
                <a:solidFill>
                  <a:srgbClr val="AEB8D6"/>
                </a:solidFill>
                <a:latin typeface="Calibri"/>
              </a:rPr>
              <a:t>Omeesha</a:t>
            </a:r>
            <a:r>
              <a:rPr sz="1200" b="1" i="0">
                <a:solidFill>
                  <a:srgbClr val="CADCFC"/>
                </a:solidFill>
                <a:latin typeface="Calibri"/>
              </a:rPr>
              <a:t>     Approver  </a:t>
            </a:r>
            <a:r>
              <a:rPr sz="1200" b="0" i="0">
                <a:solidFill>
                  <a:srgbClr val="AEB8D6"/>
                </a:solidFill>
                <a:latin typeface="Calibri"/>
              </a:rPr>
              <a:t>Deepak Chandwani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Cambria"/>
              </a:rPr>
              <a:t>29 of 40 MVP2 features still need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1556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5C6470"/>
                </a:solidFill>
                <a:latin typeface="Calibri"/>
              </a:rPr>
              <a:t>Most 'done' capability lives in API Studio. The real MVP2 gap is in the core web pipeline, platform security, cross-cutting analytics, and non-Azure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356616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600" b="1" i="0">
                <a:solidFill>
                  <a:srgbClr val="1A7F52"/>
                </a:solidFill>
                <a:latin typeface="Cambria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10128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700" b="1" i="0">
                <a:solidFill>
                  <a:srgbClr val="1A1D21"/>
                </a:solidFill>
                <a:latin typeface="Calibri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75887"/>
            <a:ext cx="35661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50" b="0" i="0">
                <a:solidFill>
                  <a:srgbClr val="5C6470"/>
                </a:solidFill>
                <a:latin typeface="Calibri"/>
              </a:rPr>
              <a:t>fully delivered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402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356616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600" b="1" i="0">
                <a:solidFill>
                  <a:srgbClr val="B5631A"/>
                </a:solidFill>
                <a:latin typeface="Cambria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310128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700" b="1" i="0">
                <a:solidFill>
                  <a:srgbClr val="1A1D21"/>
                </a:solidFill>
                <a:latin typeface="Calibri"/>
              </a:rPr>
              <a:t>Partial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675887"/>
            <a:ext cx="35661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50" b="0" i="0">
                <a:solidFill>
                  <a:srgbClr val="5C6470"/>
                </a:solidFill>
                <a:latin typeface="Calibri"/>
              </a:rPr>
              <a:t>to finish / harden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402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356616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600" b="1" i="0">
                <a:solidFill>
                  <a:srgbClr val="B4232A"/>
                </a:solidFill>
                <a:latin typeface="Cambria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10128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700" b="1" i="0">
                <a:solidFill>
                  <a:srgbClr val="1A1D21"/>
                </a:solidFill>
                <a:latin typeface="Calibri"/>
              </a:rPr>
              <a:t>Not started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675887"/>
            <a:ext cx="35661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50" b="0" i="0">
                <a:solidFill>
                  <a:srgbClr val="5C6470"/>
                </a:solidFill>
                <a:latin typeface="Calibri"/>
              </a:rPr>
              <a:t>to build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11091672" cy="2066543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25696"/>
            <a:ext cx="10698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A1D21"/>
                </a:solidFill>
                <a:latin typeface="Calibri"/>
              </a:rPr>
              <a:t>Where the work concentrates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28032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6FEB"/>
                </a:solidFill>
                <a:latin typeface="Calibri"/>
              </a:rPr>
              <a:t>Core web pipeline  —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Shadow DOM, cross-origin iFrames and DOM+Canvas hybrids are absent; execution is single-worker with no pause/skip/retry.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02936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6FEB"/>
                </a:solidFill>
                <a:latin typeface="Calibri"/>
              </a:rPr>
              <a:t>Platform security  —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RBAC is defined but enforced on no route; no IP allowlist, no DB row-level security; MFA, vault and retention half-wired.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77840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6FEB"/>
                </a:solidFill>
                <a:latin typeface="Calibri"/>
              </a:rPr>
              <a:t>Analytics &amp; observability  —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Per-run metrics aren't persisted as trends or attributed per-agent; coverage-by-sprint and auto-quarantine are half-built.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52744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6FEB"/>
                </a:solidFill>
                <a:latin typeface="Calibri"/>
              </a:rPr>
              <a:t>Deployment  —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All real deployment is Azure — no GCP/GKE manifests and no custom-network assessment process.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8A929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HOW TO READ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1A1D21"/>
                </a:solidFill>
                <a:latin typeface="Cambria"/>
              </a:rPr>
              <a:t>Method &amp; verdict legend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44805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libri"/>
              </a:rPr>
              <a:t>How each feature was judged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50749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6FEB"/>
                </a:solidFill>
                <a:latin typeface="Calibri"/>
              </a:rPr>
              <a:t>1  Roadmap parsed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D21"/>
                </a:solidFill>
                <a:latin typeface="Calibri"/>
              </a:rPr>
              <a:t>All 40 MVP2 items (IQE-035–074) and their acceptance criteria taken from the roadmap.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50749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6FEB"/>
                </a:solidFill>
                <a:latin typeface="Calibri"/>
              </a:rPr>
              <a:t>2  Code evidence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D21"/>
                </a:solidFill>
                <a:latin typeface="Calibri"/>
              </a:rPr>
              <a:t>Backend (backend/src), frontend (frontend/src), agents, worker and DB schema searched for real implementing code — not labels or types.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50749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6FEB"/>
                </a:solidFill>
                <a:latin typeface="Calibri"/>
              </a:rPr>
              <a:t>3  Area tagged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D21"/>
                </a:solidFill>
                <a:latin typeface="Calibri"/>
              </a:rPr>
              <a:t>Each capability marked Core web pipeline, API Studio, or Platform, because API-only coverage doesn't satisfy a platform-wide item.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66359"/>
            <a:ext cx="50749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6FEB"/>
                </a:solidFill>
                <a:latin typeface="Calibri"/>
              </a:rPr>
              <a:t>4  Adversarial verify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D21"/>
                </a:solidFill>
                <a:latin typeface="Calibri"/>
              </a:rPr>
              <a:t>Every 'Done' and the key 'Not started' calls were independently re-checked by separate reviewers trying to overturn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534924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01952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libri"/>
              </a:rPr>
              <a:t>What the verdicts mean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3774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63724"/>
            <a:ext cx="17830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31720"/>
            <a:ext cx="30175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D21"/>
                </a:solidFill>
                <a:latin typeface="Calibri"/>
              </a:rPr>
              <a:t>Real implementing code fully delivers the capability described.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2918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278124"/>
            <a:ext cx="17830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46120"/>
            <a:ext cx="30175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D21"/>
                </a:solidFill>
                <a:latin typeface="Calibri"/>
              </a:rPr>
              <a:t>One side or piece exists, or it is scaffolding only — needs completion or hardening.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2062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192524"/>
            <a:ext cx="17830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160520"/>
            <a:ext cx="30175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D21"/>
                </a:solidFill>
                <a:latin typeface="Calibri"/>
              </a:rPr>
              <a:t>No real implementing code — must be built.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5257800"/>
            <a:ext cx="4892040" cy="822960"/>
          </a:xfrm>
          <a:prstGeom prst="roundRect">
            <a:avLst>
              <a:gd name="adj" fmla="val 5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5257800"/>
            <a:ext cx="443484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This deck details the 20 Partial + 9 Not-started features — the 29 that still need implementation.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8A929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STATUS BY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1A1D21"/>
                </a:solidFill>
                <a:latin typeface="Cambria"/>
              </a:rPr>
              <a:t>MVP2 coverage across the nine layers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91672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1737360"/>
                <a:gridCol w="1737360"/>
                <a:gridCol w="1737360"/>
                <a:gridCol w="1673352"/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L="91440" marR="73152"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91440" marR="73152"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anchor="ctr" marL="91440" marR="73152"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 marL="91440" marR="73152"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Not started</a:t>
                      </a:r>
                    </a:p>
                  </a:txBody>
                  <a:tcPr anchor="ctr" marL="91440" marR="73152">
                    <a:solidFill>
                      <a:srgbClr val="0F1B3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Calibri"/>
                        </a:rPr>
                        <a:t>Layer 1 · Inputs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C647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8A929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563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8A929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Calibri"/>
                        </a:rPr>
                        <a:t>Layer 2 · Agents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C647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8A929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563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8A929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Calibri"/>
                        </a:rPr>
                        <a:t>Layer 3 · Execution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C647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7F5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563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423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Calibri"/>
                        </a:rPr>
                        <a:t>Layer 4 · App Support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C647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7F5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563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423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Calibri"/>
                        </a:rPr>
                        <a:t>Layer 5 · Integrations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C647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7F5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563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423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Calibri"/>
                        </a:rPr>
                        <a:t>Layer 6 · Security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C647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8A929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563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423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Calibri"/>
                        </a:rPr>
                        <a:t>Layer 7 · AI / LLM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C647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8A929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563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8A929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Calibri"/>
                        </a:rPr>
                        <a:t>Layer 8 · Analytics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C647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7F5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563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8A929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91440" marR="73152" marT="18288" marB="18288">
                    <a:solidFill>
                      <a:srgbClr val="F4F6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D21"/>
                          </a:solidFill>
                          <a:latin typeface="Calibri"/>
                        </a:rPr>
                        <a:t>Layer 9 · Deployment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C647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8A929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563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423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35508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1">
                <a:solidFill>
                  <a:srgbClr val="5C6470"/>
                </a:solidFill>
                <a:latin typeface="Calibri"/>
              </a:rPr>
              <a:t>Security (6 partial, 2 not-started) and the analytics layers carry the most unfinished work; App Support's gaps are the core-web rendering surfaces.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8A929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THE GAP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1A1D21"/>
                </a:solidFill>
                <a:latin typeface="Cambria"/>
              </a:rPr>
              <a:t>Six workstreams to close MVP2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61188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3911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25395"/>
            <a:ext cx="17373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4232A"/>
                </a:solidFill>
                <a:latin typeface="Calibri"/>
              </a:rPr>
              <a:t>4 build · 1 finish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32888"/>
            <a:ext cx="315468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D21"/>
                </a:solidFill>
                <a:latin typeface="Cambria"/>
              </a:rPr>
              <a:t>Coverage surfaces &amp; steerability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15468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5C6470"/>
                </a:solidFill>
                <a:latin typeface="Calibri"/>
              </a:rPr>
              <a:t>Shadow DOM, iFrames, DOM+Canvas, GraphQL depth, steerable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783080"/>
            <a:ext cx="361188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5152" y="203911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025395"/>
            <a:ext cx="17373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3 to finish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532888"/>
            <a:ext cx="315468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D21"/>
                </a:solidFill>
                <a:latin typeface="Cambria"/>
              </a:rPr>
              <a:t>Inputs, agents &amp;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172968"/>
            <a:ext cx="315468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5C6470"/>
                </a:solidFill>
                <a:latin typeface="Calibri"/>
              </a:rPr>
              <a:t>Event triggers, agent audit trail, run templates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1783080"/>
            <a:ext cx="361188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13064" y="203911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3064" y="2025395"/>
            <a:ext cx="17373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4232A"/>
                </a:solidFill>
                <a:latin typeface="Calibri"/>
              </a:rPr>
              <a:t>2 build · 3 finish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2532888"/>
            <a:ext cx="315468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D21"/>
                </a:solidFill>
                <a:latin typeface="Cambria"/>
              </a:rPr>
              <a:t>Security &amp;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3172968"/>
            <a:ext cx="315468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5C6470"/>
                </a:solidFill>
                <a:latin typeface="Calibri"/>
              </a:rPr>
              <a:t>Enforced RBAC, IP allowlist, DB row-level security, MFA, vault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96512"/>
            <a:ext cx="361188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35254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38828"/>
            <a:ext cx="17373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4 to finish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315468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D21"/>
                </a:solidFill>
                <a:latin typeface="Cambria"/>
              </a:rPr>
              <a:t>Governance, retention &amp;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315468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5C6470"/>
                </a:solidFill>
                <a:latin typeface="Calibri"/>
              </a:rPr>
              <a:t>Audit PDF, retention policy, AI budget, token attribution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4096512"/>
            <a:ext cx="361188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45152" y="435254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4338828"/>
            <a:ext cx="17373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7 to finish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846320"/>
            <a:ext cx="315468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D21"/>
                </a:solidFill>
                <a:latin typeface="Cambria"/>
              </a:rPr>
              <a:t>AI &amp; analytics observability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486400"/>
            <a:ext cx="315468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5C6470"/>
                </a:solidFill>
                <a:latin typeface="Calibri"/>
              </a:rPr>
              <a:t>Per-agent tokens/cost, agent scoring, heal metrics, coverage trends, auto-quarantine, digests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84464" y="4096512"/>
            <a:ext cx="361188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13064" y="435254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13064" y="4338828"/>
            <a:ext cx="17373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4232A"/>
                </a:solidFill>
                <a:latin typeface="Calibri"/>
              </a:rPr>
              <a:t>3 build · 2 finish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13064" y="4846320"/>
            <a:ext cx="315468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D21"/>
                </a:solidFill>
                <a:latin typeface="Cambria"/>
              </a:rPr>
              <a:t>Integrations &amp;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3064" y="5486400"/>
            <a:ext cx="315468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5C6470"/>
                </a:solidFill>
                <a:latin typeface="Calibri"/>
              </a:rPr>
              <a:t>ADO repos + pipelines, GCP/GKE, custom VNet, onboarding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8A929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FEATURES TO IMPLEMENT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1A1D21"/>
                </a:solidFill>
                <a:latin typeface="Cambria"/>
              </a:rPr>
              <a:t>Coverage surfaces &amp; steerable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C6470"/>
                </a:solidFill>
                <a:latin typeface="Calibri"/>
              </a:rPr>
              <a:t>Browser-rendering surfaces, GraphQL-native validation, and mid-run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56232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01368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Shadow DOM / Web Components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8562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842516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1856232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Core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85416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No shadow-DOM piercing in the web generator or Playwright config; Salesforce Lightning / MS Fluent component libraries are unsupported.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91993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856585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47441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01721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iFrame-embedded Content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856585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842869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2856585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Core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185769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No frameLocator / cross-origin frame handling for test interaction; the only iframe code serves the Allure report viewer.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92347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856939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47795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IQE-043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802075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Hybrid DOM + Canvas (DOM layer)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856939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3843223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3856939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Core web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186123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No canvas-aware strategy for the DOM shell of hybrid apps, and no explicit scoping-out of the canvas layer.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692700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4857292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848148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802428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GraphQL Testing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485729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4843576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4857292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API Studio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186476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Introspection and SDL import generate runnable operations, but assertions are generic HTTP — a GraphQL error (HTTP 200 with errors[]) passes, because the errors[] contract is never validated.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693054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5857646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48502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802782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Steerable Execution (Pause / Skip / Retry)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5857646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5843930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5857646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Both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186830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No pause / skip / retry of individual steps mid-run — only a whole-pipeline human review gate, automatic stage retries, and cancel-while-queued.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8A929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FEATURES TO IMPLEMENT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1A1D21"/>
                </a:solidFill>
                <a:latin typeface="Cambria"/>
              </a:rPr>
              <a:t>Inputs, agents &amp;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C6470"/>
                </a:solidFill>
                <a:latin typeface="Calibri"/>
              </a:rPr>
              <a:t>Event-driven triggers, agent-level audit, and ready-made run templates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1672" cy="13716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56232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01368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CI/CD Event Triggers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8562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842516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1856232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API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85416"/>
            <a:ext cx="9509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CI-token runs and a PR-webhook capture exist, but no commit/PR event auto-generates and runs tests, and the core web pipeline has no git-event trigger.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72968"/>
            <a:ext cx="11091672" cy="13716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28416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282696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Audit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33756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3323844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3337560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Both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666744"/>
            <a:ext cx="9509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A structured audit log and queryable viewer exist, but they record user/API actions — not each agent's decisions and outputs, and nothing logs the core pipeline.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4296"/>
            <a:ext cx="11091672" cy="13716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818888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09744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64024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Pipeline Templates (Smoke / Regression / Full)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81888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805172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4818888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API 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148072"/>
            <a:ext cx="9509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Scheduling, CI triggers and env-variable management are done; the pre-built Smoke / Regression / Full-Suite pipeline templates are not.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8A929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FEATURES TO IMPLEMENT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1A1D21"/>
                </a:solidFill>
                <a:latin typeface="Cambria"/>
              </a:rPr>
              <a:t>Security &amp;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C6470"/>
                </a:solidFill>
                <a:latin typeface="Calibri"/>
              </a:rPr>
              <a:t>Enforcement that must live at the platform login and database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56232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01368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SSO / RBAC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8562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842516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1856232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85416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OIDC SSO works and mints the platform token, but RBAC's requirePermission is applied to no route (login enforces none) and SAML skips signature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91993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856585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47441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01721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MFA and Session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856585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842869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2856585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185769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TOTP MFA is enforced for enrolled users, but the tenant-wide 'MFA required' flag never forces enrollment and session timeout is one global env, not per-tenant.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92347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856939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47795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IQE-057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802075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Secret Vault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856939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3843223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3856939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API 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186123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A runtime resolver for Vault / AWS / Azure / GCP exists but is opt-in per request; integration credentials are still stored (encrypted) in the database.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692700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4857292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848148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802428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IP Allowlist / Blocklist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485729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4843576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4857292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186476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No per-tenant or network IP allow/block enforcement anywhere — no CIDR matching and no IP-gate middleware (only CORS origins).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693054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5857646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48502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IQE-062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802782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Row-Level Database Security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5857646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5843930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5857646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186830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No SQL Server row-level security (no SECURITY POLICY / SESSION_CONTEXT); tenancy is app-layer 'WHERE tenant_id' only — the DB won't stop a missing filter.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8A929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FEATURES TO IMPLEMENT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1A1D21"/>
                </a:solidFill>
                <a:latin typeface="Cambria"/>
              </a:rPr>
              <a:t>Governance, retention &amp;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C6470"/>
                </a:solidFill>
                <a:latin typeface="Calibri"/>
              </a:rPr>
              <a:t>Compliance evidence, retention policy, and real AI-spend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1672" cy="1140713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56232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01368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Compliance Audit Log 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8562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842516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1856232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API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85416"/>
            <a:ext cx="9509760" cy="59207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The queryable viewer and CSV export are done; PDF export is missing, it is surfaced only in API Studio, and it logs API actions, not agent sub-steps.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42082"/>
            <a:ext cx="11091672" cy="1140713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106674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97530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051810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Data Retention and Auto-Purge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106674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3092958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3106674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435858"/>
            <a:ext cx="9509760" cy="59207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Report pruning keeps a hardcoded newest-10 (count-based) — not per-tenant configurable, not time/expiry-based, and limited to rendered reports.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92523"/>
            <a:ext cx="11091672" cy="1140713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357115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47971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302251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Per-Tenant AI Budget Enforcement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357115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343399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4357115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API 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686299"/>
            <a:ext cx="9509760" cy="59207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FinOps gives a pre-run cost/token estimate and cap check, but there is no real token-consumption tracking, persisted per-tenant budget, or throttling on breach.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42965"/>
            <a:ext cx="11091672" cy="1140713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5607557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98413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552693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Cost Attribution and Token Monitoring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5607557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5593841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5607557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Both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936741"/>
            <a:ext cx="9509760" cy="59207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Per-run USD cost is stored and summed per tenant, but no tokens are persisted, there is no per-agent/customer attribution, and no usage dashboard or export.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8A929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FEATURES TO IMPLEMENT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1A1D21"/>
                </a:solidFill>
                <a:latin typeface="Cambria"/>
              </a:rPr>
              <a:t>AI &amp; agent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C6470"/>
                </a:solidFill>
                <a:latin typeface="Calibri"/>
              </a:rPr>
              <a:t>Turning per-run signals into persisted, attributable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1672" cy="1140713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56232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01368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Reasoning Effort Controls (per stage)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8562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842516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1856232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85416"/>
            <a:ext cx="9509760" cy="59207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A single global reasoning effort is applied; StageDefinition.effort is plumbed to the worker but never sent to the LLM, so per-stage control is a dead field.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42082"/>
            <a:ext cx="11091672" cy="1140713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106674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97530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051810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Agent Performance Scoring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106674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3092958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3106674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Core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435858"/>
            <a:ext cx="9509760" cy="59207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Per-agent success/error and durations are tracked in an in-memory last-200 buffer — no persisted trend, heal-success, false-positive, cost or real accuracy.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92523"/>
            <a:ext cx="11091672" cy="1140713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357115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47971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302251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Self-Healing Performance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357115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343399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4357115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Both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686299"/>
            <a:ext cx="9509760" cy="59207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Per-run healed counts are shown, but there is no aggregated heal success-rate / accuracy over time and no persisted failure-case dashboard.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42965"/>
            <a:ext cx="11091672" cy="1140713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5607557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98413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IQE-069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552693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AI Agent Analytics (tokens / accuracy / cost)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5607557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5593841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5607557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Core web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936741"/>
            <a:ext cx="9509760" cy="59207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The per-agent dashboard shows only duration and success rate; tokens and cost per agent are not tracked or shown, and 'accuracy' is just success/error.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8A929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FEATURES TO IMPLEMENT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1A1D21"/>
                </a:solidFill>
                <a:latin typeface="Cambria"/>
              </a:rPr>
              <a:t>Analytics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C6470"/>
                </a:solidFill>
                <a:latin typeface="Calibri"/>
              </a:rPr>
              <a:t>Sprint/release coverage trends, auto-quarantine, and scheduled digests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1672" cy="13716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56232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01368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Coverage Trend Dashboards (Sprint/Release)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8562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842516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1856232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API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85416"/>
            <a:ext cx="9509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TestRail linkage and a run-over-run pass-rate trend are done; there is no coverage-percent trend organized by sprint or release 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72968"/>
            <a:ext cx="11091672" cy="13716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28416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282696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Flakiness Intelligence &amp; Auto-Quarantine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33756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3323844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3337560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API Studio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666744"/>
            <a:ext cx="9509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Flaky detection and a manual quarantine list exist, but nothing auto-quarantines detected flaky tests and flakiness is not tracked as a trend.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4296"/>
            <a:ext cx="11091672" cy="13716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818888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09744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64024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Scheduled Report Delivery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81888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805172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4818888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Both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148072"/>
            <a:ext cx="9509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Completion-trigger emails are done; there is no daily / weekly / digest scheduled report delivery.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8A929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FEATURES TO IMPLEMENT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1A1D21"/>
                </a:solidFill>
                <a:latin typeface="Cambria"/>
              </a:rPr>
              <a:t>Integrations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C6470"/>
                </a:solidFill>
                <a:latin typeface="Calibri"/>
              </a:rPr>
              <a:t>Azure DevOps parity, GCP/GKE, custom networks, and onboarding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56232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01368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Azure DevOps Pipelines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8562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842516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1856232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API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85416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The CLI / public-API path works from ADO, but no azure-pipelines.yml template ships and the ADO connector only authenticates and lists projects.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91993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856585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47441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01721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ADO Repos Code Push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856585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842869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2856585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185769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parseRepoUrl rejects dev.azure.com and there is no ADO git provider; azure-devops.service only files work items/bugs — no repo push.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92347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856939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47795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802075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GCP Deployment (GKE)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856939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3843223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3856939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186123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No GKE / Helm / k8s manifests — only a GCS artifact-storage provider and a strategy doc; all real deployment is Azure.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692700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4857292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848148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802428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VNet Complexity — Custom Config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485729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4843576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4857292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Docs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186476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Only standard Azure baseline-architecture docs exist; there is no repeatable per-customer custom network / compliance assessment process.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693054"/>
            <a:ext cx="11091672" cy="890625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5857646"/>
            <a:ext cx="114300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48502"/>
            <a:ext cx="1143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IQE-074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802782"/>
            <a:ext cx="685800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Cambria"/>
              </a:rPr>
              <a:t>Automated Tenant Onboarding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5857646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C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5843930"/>
            <a:ext cx="14630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5857646"/>
            <a:ext cx="960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8A929E"/>
                </a:solidFill>
                <a:latin typeface="Calibri"/>
              </a:rPr>
              <a:t>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186830"/>
            <a:ext cx="9509760" cy="34198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4049"/>
                </a:solidFill>
                <a:latin typeface="Calibri"/>
              </a:rPr>
              <a:t>Signup auto-creates a tenant and first user, but there is no guided multi-step setup wizard or onboarding flow.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8A929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RECOMMENDED SEQUENCING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1A1D21"/>
                </a:solidFill>
                <a:latin typeface="Cambria"/>
              </a:rPr>
              <a:t>A pragmatic order of attack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61188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611880" cy="914400"/>
          </a:xfrm>
          <a:prstGeom prst="roundRect">
            <a:avLst>
              <a:gd name="adj" fmla="val 4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3611880" cy="45720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31546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mbria"/>
              </a:rPr>
              <a:t>1  Platform 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3154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Enforce now — enterprise blockers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26080"/>
            <a:ext cx="313639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F1B3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Wire RBAC requirePermission onto routes (IQE-055)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12464"/>
            <a:ext cx="313639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F1B3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IP allowlist / blocklist middleware (IQE-060)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498848"/>
            <a:ext cx="313639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F1B3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SQL row-level security + session context (IQE-062)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285232"/>
            <a:ext cx="313639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F1B3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Per-tenant retention + session timeout (IQE-056/059)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783080"/>
            <a:ext cx="361188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16552" y="1783080"/>
            <a:ext cx="3611880" cy="914400"/>
          </a:xfrm>
          <a:prstGeom prst="roundRect">
            <a:avLst>
              <a:gd name="adj" fmla="val 4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2240280"/>
            <a:ext cx="36118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901952"/>
            <a:ext cx="31546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mbria"/>
              </a:rPr>
              <a:t>2  Observability &amp;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313432"/>
            <a:ext cx="3154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High value, mostly additive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926080"/>
            <a:ext cx="313639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1F6FE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Persist tokens + per-agent cost attribution (IQE-064/069)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712464"/>
            <a:ext cx="313639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1F6FE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Agent scoring &amp; heal metrics over time (IQE-065/066)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4" y="4498848"/>
            <a:ext cx="313639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1F6FE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Scheduled digests + GraphQL-aware checks (IQE-070/045)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5285232"/>
            <a:ext cx="313639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1F6FE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Auto-quarantine + coverage trends (IQE-068/067)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4464" y="1783080"/>
            <a:ext cx="361188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84464" y="1783080"/>
            <a:ext cx="3611880" cy="914400"/>
          </a:xfrm>
          <a:prstGeom prst="roundRect">
            <a:avLst>
              <a:gd name="adj" fmla="val 4000"/>
            </a:avLst>
          </a:prstGeom>
          <a:solidFill>
            <a:srgbClr val="4A4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84464" y="2240280"/>
            <a:ext cx="3611880" cy="457200"/>
          </a:xfrm>
          <a:prstGeom prst="rect">
            <a:avLst/>
          </a:prstGeom>
          <a:solidFill>
            <a:srgbClr val="4A4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13064" y="1901952"/>
            <a:ext cx="31546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mbria"/>
              </a:rPr>
              <a:t>3  Core web &amp;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13064" y="2313432"/>
            <a:ext cx="3154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C9CDD4"/>
                </a:solidFill>
                <a:latin typeface="Calibri"/>
              </a:rPr>
              <a:t>Larger engineering lifts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2926080"/>
            <a:ext cx="313639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4A4F5A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Shadow DOM, iFrame, DOM+Canvas support (IQE-041/42/43)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3712464"/>
            <a:ext cx="313639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4A4F5A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Steerable execution: pause / skip / retry (IQE-040)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0496" y="4498848"/>
            <a:ext cx="313639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4A4F5A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GCP / GKE deployment manifests (IQE-072)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5285232"/>
            <a:ext cx="313639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4A4F5A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D21"/>
                </a:solidFill>
                <a:latin typeface="Calibri"/>
              </a:rPr>
              <a:t>ADO repos push + pipeline template (IQE-052/050)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5508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1">
                <a:solidFill>
                  <a:srgbClr val="5C6470"/>
                </a:solidFill>
                <a:latin typeface="Calibri"/>
              </a:rPr>
              <a:t>Partial items are generally faster (finish existing scaffolding); the core-web rendering surfaces and GCP/GKE are the heaviest net-new builds.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8A929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1A1D21"/>
                </a:solidFill>
                <a:latin typeface="Cambria"/>
              </a:rPr>
              <a:t>Already delivered in MVP2 (11)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C6470"/>
                </a:solidFill>
                <a:latin typeface="Calibri"/>
              </a:rPr>
              <a:t>Excluded from the build list — noted where coverage is API-Studio-only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40680" cy="74980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29968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20824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02996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016252"/>
            <a:ext cx="914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993392"/>
            <a:ext cx="2852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A1D21"/>
                </a:solidFill>
                <a:latin typeface="Calibri"/>
              </a:rPr>
              <a:t>Parallel Execution (configurable workers)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04288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5C6470"/>
                </a:solidFill>
                <a:latin typeface="Calibri"/>
              </a:rPr>
              <a:t>API Studio  ·  Core web pipeline still single-worker.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5440680" cy="74980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852928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843784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IQE-038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285292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839212"/>
            <a:ext cx="914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816352"/>
            <a:ext cx="2852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A1D21"/>
                </a:solidFill>
                <a:latin typeface="Calibri"/>
              </a:rPr>
              <a:t>Load and Performance Profiling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27248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5C6470"/>
                </a:solidFill>
                <a:latin typeface="Calibri"/>
              </a:rPr>
              <a:t>API Studio  ·  Endpoint-level, not multi-step flows.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5440680" cy="74980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675887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666744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IQE-044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3675887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3662172"/>
            <a:ext cx="914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639312"/>
            <a:ext cx="2852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A1D21"/>
                </a:solidFill>
                <a:latin typeface="Calibri"/>
              </a:rPr>
              <a:t>REST API — Full Suite (OpenAPI/Swagger)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50208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5C6470"/>
                </a:solidFill>
                <a:latin typeface="Calibri"/>
              </a:rPr>
              <a:t>API Studio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97680"/>
            <a:ext cx="5440680" cy="74980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4498848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489704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IQE-046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20240" y="449884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40" y="4485132"/>
            <a:ext cx="914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4462272"/>
            <a:ext cx="2852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A1D21"/>
                </a:solidFill>
                <a:latin typeface="Calibri"/>
              </a:rPr>
              <a:t>Contract and Schema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73168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5C6470"/>
                </a:solidFill>
                <a:latin typeface="Calibri"/>
              </a:rPr>
              <a:t>API Studio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20640"/>
            <a:ext cx="5440680" cy="74980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3232" y="5321808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312664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IQE-047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20240" y="532180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5308092"/>
            <a:ext cx="914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5285232"/>
            <a:ext cx="2852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A1D21"/>
                </a:solidFill>
                <a:latin typeface="Calibri"/>
              </a:rPr>
              <a:t>Mock Server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596128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5C6470"/>
                </a:solidFill>
                <a:latin typeface="Calibri"/>
              </a:rPr>
              <a:t>API Studio  ·  In-house parity, not literal WireMock/Prism.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943600"/>
            <a:ext cx="5440680" cy="74980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13232" y="6144768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6135624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IQE-048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20240" y="614476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20240" y="6131052"/>
            <a:ext cx="914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1800" y="6108192"/>
            <a:ext cx="2852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A1D21"/>
                </a:solidFill>
                <a:latin typeface="Calibri"/>
              </a:rPr>
              <a:t>TestRail Direct API Sync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419088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5C6470"/>
                </a:solidFill>
                <a:latin typeface="Calibri"/>
              </a:rPr>
              <a:t>API Studio  ·  On-demand, not real-time.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1828800"/>
            <a:ext cx="5440680" cy="74980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36792" y="2029968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36792" y="2020824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IQE-049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43800" y="202996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43800" y="2016252"/>
            <a:ext cx="914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1993392"/>
            <a:ext cx="2852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A1D21"/>
                </a:solidFill>
                <a:latin typeface="Calibri"/>
              </a:rPr>
              <a:t>GitLab CI Integration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2304288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5C6470"/>
                </a:solidFill>
                <a:latin typeface="Calibri"/>
              </a:rPr>
              <a:t>API Studio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72200" y="2651760"/>
            <a:ext cx="5440680" cy="74980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336792" y="2852928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36792" y="2843784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IQE-051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43800" y="285292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43800" y="2839212"/>
            <a:ext cx="914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0" y="2816352"/>
            <a:ext cx="2852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A1D21"/>
                </a:solidFill>
                <a:latin typeface="Calibri"/>
              </a:rPr>
              <a:t>GitLab Code Push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3127248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5C6470"/>
                </a:solidFill>
                <a:latin typeface="Calibri"/>
              </a:rPr>
              <a:t>Platform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72200" y="3474720"/>
            <a:ext cx="5440680" cy="74980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336792" y="3675887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36792" y="3666744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IQE-053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43800" y="3675887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43800" y="3662172"/>
            <a:ext cx="914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60" y="3639312"/>
            <a:ext cx="2852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A1D21"/>
                </a:solidFill>
                <a:latin typeface="Calibri"/>
              </a:rPr>
              <a:t>Slack Notifications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80" y="3950208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5C6470"/>
                </a:solidFill>
                <a:latin typeface="Calibri"/>
              </a:rPr>
              <a:t>Platform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72200" y="4297680"/>
            <a:ext cx="5440680" cy="74980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336792" y="4498848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36792" y="4489704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IQE-054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43800" y="449884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43800" y="4485132"/>
            <a:ext cx="914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95360" y="4462272"/>
            <a:ext cx="2852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A1D21"/>
                </a:solidFill>
                <a:latin typeface="Calibri"/>
              </a:rPr>
              <a:t>Microsoft Teams Notifications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55080" y="4773168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5C6470"/>
                </a:solidFill>
                <a:latin typeface="Calibri"/>
              </a:rPr>
              <a:t>Platform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72200" y="5120640"/>
            <a:ext cx="5440680" cy="74980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336792" y="5321808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36792" y="5312664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IQE-071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543800" y="532180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543800" y="5308092"/>
            <a:ext cx="914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95360" y="5285232"/>
            <a:ext cx="28529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A1D21"/>
                </a:solidFill>
                <a:latin typeface="Calibri"/>
              </a:rPr>
              <a:t>Unified Web + API Reporting Dashboard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55080" y="5596128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5C6470"/>
                </a:solidFill>
                <a:latin typeface="Calibri"/>
              </a:rPr>
              <a:t>Platform  ·  Merged web + API report-history view.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8A929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