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4059936" cy="38100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9016" y="4892040"/>
            <a:ext cx="4059936" cy="381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spc="200">
                <a:solidFill>
                  <a:srgbClr val="9DB6E8"/>
                </a:solidFill>
                <a:latin typeface="Calibri"/>
              </a:rPr>
              <a:t>PRODUCT GAP ANALYSIS  · 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74519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IntelliQE vs. the Roadmap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C8CED8"/>
                </a:solidFill>
                <a:latin typeface="Calibri"/>
              </a:rPr>
              <a:t>What's built, what's required next, and the market pain it closes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Scope  </a:t>
            </a:r>
            <a:r>
              <a:rPr sz="1300" b="0" i="0">
                <a:solidFill>
                  <a:srgbClr val="C8CED8"/>
                </a:solidFill>
                <a:latin typeface="Calibri"/>
              </a:rPr>
              <a:t>100 features across MVP 1–4 (Feature Registry v1.0) compared to the live codebase, plus a 2026 no-code AI test-automation market-pain scan.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Owner  </a:t>
            </a:r>
            <a:r>
              <a:rPr sz="1300" b="0" i="0">
                <a:solidFill>
                  <a:srgbClr val="C8CED8"/>
                </a:solidFill>
                <a:latin typeface="Calibri"/>
              </a:rPr>
              <a:t>Omeesha</a:t>
            </a:r>
            <a:r>
              <a:rPr sz="1300" b="1" i="0">
                <a:solidFill>
                  <a:srgbClr val="8A929E"/>
                </a:solidFill>
                <a:latin typeface="Calibri"/>
              </a:rPr>
              <a:t>      Approver  </a:t>
            </a:r>
            <a:r>
              <a:rPr sz="1300" b="0" i="0">
                <a:solidFill>
                  <a:srgbClr val="C8CED8"/>
                </a:solidFill>
                <a:latin typeface="Calibri"/>
              </a:rPr>
              <a:t>Deepak Chandwani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1F6FEB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The headline: breadth is there — depth and platform hardening are the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76148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2761488" cy="50800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82496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80">
                <a:solidFill>
                  <a:srgbClr val="1A7F52"/>
                </a:solidFill>
                <a:latin typeface="Calibri"/>
              </a:rPr>
              <a:t>MVP 1 —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75104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34 / 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23957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The generate → execute → heal pipeline, core app support, first integrations and in-tenant security all ship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1463040"/>
            <a:ext cx="276148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2424" y="1463040"/>
            <a:ext cx="2761488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1682496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80">
                <a:solidFill>
                  <a:srgbClr val="1F6FEB"/>
                </a:solidFill>
                <a:latin typeface="Calibri"/>
              </a:rPr>
              <a:t>MVP 2 — IN FLIGHT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1975104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~11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578608"/>
            <a:ext cx="23957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Of 40 features: 11 done, 20 partial, 9 not started. Almost everything 'done' lives in API Studio.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1463040"/>
            <a:ext cx="276148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1463040"/>
            <a:ext cx="2761488" cy="508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682496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80">
                <a:solidFill>
                  <a:srgbClr val="B5631A"/>
                </a:solidFill>
                <a:latin typeface="Calibri"/>
              </a:rPr>
              <a:t>THE REAL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975104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4 clusters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578608"/>
            <a:ext cx="23957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Core-web rendering surfaces, platform security/governance, analytics persistence, and non-Azure deployment.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71432" y="1463040"/>
            <a:ext cx="276148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71432" y="1463040"/>
            <a:ext cx="2761488" cy="508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2" y="1682496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80">
                <a:solidFill>
                  <a:srgbClr val="8137D8"/>
                </a:solidFill>
                <a:latin typeface="Calibri"/>
              </a:rPr>
              <a:t>MARKET 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1975104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Ahead on breadth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578608"/>
            <a:ext cx="23957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Already clears ~10–11 of 15 market-best capabilities; the win is a focused set of additions, not a big backlog.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34840"/>
            <a:ext cx="11155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Bottom line.  </a:t>
            </a:r>
            <a:r>
              <a:rPr sz="1350" b="0" i="0">
                <a:solidFill>
                  <a:srgbClr val="5C6470"/>
                </a:solidFill>
                <a:latin typeface="Calibri"/>
              </a:rPr>
              <a:t>IntelliQE's API Studio is unusually broad — dozens of market-grade API capabilities already shipped. The features still </a:t>
            </a:r>
            <a:r>
              <a:rPr sz="1350" b="1" i="0">
                <a:solidFill>
                  <a:srgbClr val="B5631A"/>
                </a:solidFill>
                <a:latin typeface="Calibri"/>
              </a:rPr>
              <a:t>required</a:t>
            </a:r>
            <a:r>
              <a:rPr sz="1350" b="0" i="0">
                <a:solidFill>
                  <a:srgbClr val="5C6470"/>
                </a:solidFill>
                <a:latin typeface="Calibri"/>
              </a:rPr>
              <a:t> cluster in the </a:t>
            </a:r>
            <a:r>
              <a:rPr sz="1350" b="1" i="0">
                <a:solidFill>
                  <a:srgbClr val="1A1D21"/>
                </a:solidFill>
                <a:latin typeface="Calibri"/>
              </a:rPr>
              <a:t>core web pipeline</a:t>
            </a:r>
            <a:r>
              <a:rPr sz="1350" b="0" i="0">
                <a:solidFill>
                  <a:srgbClr val="5C6470"/>
                </a:solidFill>
                <a:latin typeface="Calibri"/>
              </a:rPr>
              <a:t> (non-standard rendering, steerable execution), </a:t>
            </a:r>
            <a:r>
              <a:rPr sz="1350" b="1" i="0">
                <a:solidFill>
                  <a:srgbClr val="1A1D21"/>
                </a:solidFill>
                <a:latin typeface="Calibri"/>
              </a:rPr>
              <a:t>enterprise platform hardening</a:t>
            </a:r>
            <a:r>
              <a:rPr sz="1350" b="0" i="0">
                <a:solidFill>
                  <a:srgbClr val="5C6470"/>
                </a:solidFill>
                <a:latin typeface="Calibri"/>
              </a:rPr>
              <a:t> (enforced RBAC, network controls, DB-level tenancy), </a:t>
            </a:r>
            <a:r>
              <a:rPr sz="1350" b="1" i="0">
                <a:solidFill>
                  <a:srgbClr val="1A1D21"/>
                </a:solidFill>
                <a:latin typeface="Calibri"/>
              </a:rPr>
              <a:t>durable analytics</a:t>
            </a:r>
            <a:r>
              <a:rPr sz="1350" b="0" i="0">
                <a:solidFill>
                  <a:srgbClr val="5C6470"/>
                </a:solidFill>
                <a:latin typeface="Calibri"/>
              </a:rPr>
              <a:t> (token/cost/heal metrics over time), and </a:t>
            </a:r>
            <a:r>
              <a:rPr sz="1350" b="1" i="0">
                <a:solidFill>
                  <a:srgbClr val="1A1D21"/>
                </a:solidFill>
                <a:latin typeface="Calibri"/>
              </a:rPr>
              <a:t>multi-cloud deployment</a:t>
            </a:r>
            <a:r>
              <a:rPr sz="1350" b="0" i="0">
                <a:solidFill>
                  <a:srgbClr val="5C6470"/>
                </a:solidFill>
                <a:latin typeface="Calibri"/>
              </a:rPr>
              <a:t>. These are also exactly what buyers punish competitors for missing.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1A7F52"/>
                </a:solidFill>
                <a:latin typeface="Calibri"/>
              </a:rPr>
              <a:t>LIVE TODAY · THE APPLICATION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Screenshots from the running build — core flow &amp; API breadth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90220" y="1468628"/>
            <a:ext cx="3637280" cy="22828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_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3611880" cy="22574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1481328"/>
            <a:ext cx="3611880" cy="2257425"/>
          </a:xfrm>
          <a:prstGeom prst="rect">
            <a:avLst/>
          </a:prstGeom>
          <a:noFill/>
          <a:ln w="9525">
            <a:solidFill>
              <a:srgbClr val="C2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814953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6-stage AI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70985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F52"/>
                </a:solidFill>
                <a:latin typeface="Calibri"/>
              </a:rPr>
              <a:t>IQE-006…009 · 013 — Requirement→Plan→Generate→Execute→Heal→Report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5836" y="1468628"/>
            <a:ext cx="3637280" cy="22828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apistud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481328"/>
            <a:ext cx="3611880" cy="225742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288536" y="1481328"/>
            <a:ext cx="3611880" cy="2257425"/>
          </a:xfrm>
          <a:prstGeom prst="rect">
            <a:avLst/>
          </a:prstGeom>
          <a:noFill/>
          <a:ln w="9525">
            <a:solidFill>
              <a:srgbClr val="C2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3814953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API Studio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4070985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FEB"/>
                </a:solidFill>
                <a:latin typeface="Calibri"/>
              </a:rPr>
              <a:t>IQE-044 · 071 — spec intake, pass-rate &amp; coverage, unified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1452" y="1468628"/>
            <a:ext cx="3637280" cy="22828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_too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481328"/>
            <a:ext cx="3611880" cy="225742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74152" y="1481328"/>
            <a:ext cx="3611880" cy="2257425"/>
          </a:xfrm>
          <a:prstGeom prst="rect">
            <a:avLst/>
          </a:prstGeom>
          <a:noFill/>
          <a:ln w="9525">
            <a:solidFill>
              <a:srgbClr val="C2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3814953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80+ tool launcher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4070985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137D8"/>
                </a:solidFill>
                <a:latin typeface="Calibri"/>
              </a:rPr>
              <a:t>Breadth: OWASP, BOLA/BFLA, load, drift, self-heal — already present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These confirm the breadth claim: the generate→execute→heal pipeline and a deep API-testing surface are live and demoable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1A7F52"/>
                </a:solidFill>
                <a:latin typeface="Calibri"/>
              </a:rPr>
              <a:t>LIVE TODAY · THE APPLICATION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Labs, unified reporting &amp; 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0220" y="1468628"/>
            <a:ext cx="3637280" cy="22828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_web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3611880" cy="22574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1481328"/>
            <a:ext cx="3611880" cy="2257425"/>
          </a:xfrm>
          <a:prstGeom prst="rect">
            <a:avLst/>
          </a:prstGeom>
          <a:noFill/>
          <a:ln w="9525">
            <a:solidFill>
              <a:srgbClr val="C2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814953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Web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70985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FEB"/>
                </a:solidFill>
                <a:latin typeface="Calibri"/>
              </a:rPr>
              <a:t>IQE-011 · 012 · 018 — a11y (WCAG), visual, responsive,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5836" y="1468628"/>
            <a:ext cx="3637280" cy="22828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repor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481328"/>
            <a:ext cx="3611880" cy="225742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288536" y="1481328"/>
            <a:ext cx="3611880" cy="2257425"/>
          </a:xfrm>
          <a:prstGeom prst="rect">
            <a:avLst/>
          </a:prstGeom>
          <a:noFill/>
          <a:ln w="9525">
            <a:solidFill>
              <a:srgbClr val="C2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3814953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Unified web + API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4070985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7490"/>
                </a:solidFill>
                <a:latin typeface="Calibri"/>
              </a:rPr>
              <a:t>IQE-013 · 071 — one table across test types, pass-rate &amp;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1452" y="1468628"/>
            <a:ext cx="3637280" cy="22828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_conf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481328"/>
            <a:ext cx="3611880" cy="225742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74152" y="1481328"/>
            <a:ext cx="3611880" cy="2257425"/>
          </a:xfrm>
          <a:prstGeom prst="rect">
            <a:avLst/>
          </a:prstGeom>
          <a:noFill/>
          <a:ln w="9525">
            <a:solidFill>
              <a:srgbClr val="C2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3814953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System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4070985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137D8"/>
                </a:solidFill>
                <a:latin typeface="Calibri"/>
              </a:rPr>
              <a:t>IQE-029 · 037 — LLM config, parallel workers, browser, 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A929E"/>
                </a:solidFill>
                <a:latin typeface="Calibri"/>
              </a:rPr>
              <a:t>Captured live via the seeded local build (jbsadmin tenant). Pane-scaled to 800×500 — shown as insets, not full-resolution.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1F6FEB"/>
                </a:solidFill>
                <a:latin typeface="Calibri"/>
              </a:rPr>
              <a:t>METHOD &amp; STATUS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How this comparison was 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486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D21"/>
                </a:solidFill>
                <a:latin typeface="Calibri"/>
              </a:rPr>
              <a:t>Sources compared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470"/>
                </a:solidFill>
                <a:latin typeface="Calibri"/>
              </a:rPr>
              <a:t>•  Feature Registry v1.0 + Roadmap MVP 1–4 (100 features, IQE-001…100)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470"/>
                </a:solidFill>
                <a:latin typeface="Calibri"/>
              </a:rPr>
              <a:t>•  The live IntelliQE codebase (backend services, agents, pipeline, frontend)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470"/>
                </a:solidFill>
                <a:latin typeface="Calibri"/>
              </a:rPr>
              <a:t>•  A verified codebase-vs-MVP2 gap pass (4 exploration sweeps + adversarial verification)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470"/>
                </a:solidFill>
                <a:latin typeface="Calibri"/>
              </a:rPr>
              <a:t>•  A 2026 no-code AI test-automation market-pain web scan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C6470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D21"/>
                </a:solidFill>
                <a:latin typeface="Calibri"/>
              </a:rPr>
              <a:t>Note on the registry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470"/>
                </a:solidFill>
                <a:latin typeface="Calibri"/>
              </a:rPr>
              <a:t>The supplied workbook's Implementation-Status and Gap-Notes columns are blank — status here is derived from the code, not copied from the sheet.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727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8A929E"/>
                </a:solidFill>
                <a:latin typeface="Calibri"/>
              </a:rPr>
              <a:t>STATUS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993392"/>
            <a:ext cx="1417320" cy="274320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93392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75104"/>
            <a:ext cx="3246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470"/>
                </a:solidFill>
                <a:latin typeface="Calibri"/>
              </a:rPr>
              <a:t>Shipped and working in the current 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743200"/>
            <a:ext cx="1417320" cy="274320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246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470"/>
                </a:solidFill>
                <a:latin typeface="Calibri"/>
              </a:rPr>
              <a:t>Exists but needs finishing or hardening to meet the acceptance criteria.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493008"/>
            <a:ext cx="14173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493008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74720"/>
            <a:ext cx="3246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470"/>
                </a:solidFill>
                <a:latin typeface="Calibri"/>
              </a:rPr>
              <a:t>No implementing code yet — a net-new build.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242816"/>
            <a:ext cx="1417320" cy="274320"/>
          </a:xfrm>
          <a:prstGeom prst="roundRect">
            <a:avLst/>
          </a:prstGeom>
          <a:solidFill>
            <a:srgbClr val="F2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24281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137D8"/>
                </a:solidFill>
                <a:latin typeface="Calibri"/>
              </a:rPr>
              <a:t>FUTURE (MVP3/4)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224528"/>
            <a:ext cx="3246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470"/>
                </a:solidFill>
                <a:latin typeface="Calibri"/>
              </a:rPr>
              <a:t>Frontier scope — planned, not yet in flight.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0749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A929E"/>
                </a:solidFill>
                <a:latin typeface="Calibri"/>
              </a:rPr>
              <a:t>Point-in-time: verified against the build as of mid-Oct 2026.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1F6FEB"/>
                </a:solidFill>
                <a:latin typeface="Calibri"/>
              </a:rPr>
              <a:t>MVP 2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40 features: where each one stands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075355" cy="777240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0753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11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78275" y="1600200"/>
            <a:ext cx="5591556" cy="77724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8275" y="1600200"/>
            <a:ext cx="55915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20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69831" y="1600200"/>
            <a:ext cx="2516200" cy="777240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9831" y="1600200"/>
            <a:ext cx="2516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NOT STARTED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4203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29 of 40 MVP2 features still need work.</a:t>
            </a:r>
            <a:r>
              <a:rPr sz="1300" b="0" i="0">
                <a:solidFill>
                  <a:srgbClr val="5C6470"/>
                </a:solidFill>
                <a:latin typeface="Calibri"/>
              </a:rPr>
              <a:t>  The bar is read left-to-right as the delivery front.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34640"/>
            <a:ext cx="5486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34640"/>
            <a:ext cx="548640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50292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F6FEB"/>
                </a:solidFill>
                <a:latin typeface="Calibri"/>
              </a:rPr>
              <a:t>What's already done is API-shaped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Almost every 'done' item lives in API Studio — contract &amp; schema validation, the full REST suite from OpenAPI, mock server, parallel execution, audit logging, cost-per-run, the unified web+API report.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5C6470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A1D21"/>
                </a:solidFill>
                <a:latin typeface="Calibri"/>
              </a:rPr>
              <a:t>That breadth is real and shippable today.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834640"/>
            <a:ext cx="5486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2834640"/>
            <a:ext cx="5486400" cy="508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017520"/>
            <a:ext cx="50292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B5631A"/>
                </a:solidFill>
                <a:latin typeface="Calibri"/>
              </a:rPr>
              <a:t>What's thin is the core web pipeline &amp; platform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The generate→execute→heal web pipeline, enterprise security enforcement, durable analytics and non-Azure deployment lag behind.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5C6470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A1D21"/>
                </a:solidFill>
                <a:latin typeface="Calibri"/>
              </a:rPr>
              <a:t>These are the enterprise-blocking items — and the most visible to customers.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B4232A"/>
                </a:solidFill>
                <a:latin typeface="Calibri"/>
              </a:rPr>
              <a:t>REQUIRED — NET-NEW BUILDS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MVP 2 · Not started (9)  —  highest-effort, build these deliberately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75887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0800" cy="148132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563624"/>
            <a:ext cx="9601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563624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4232A"/>
                </a:solidFill>
                <a:latin typeface="Calibri"/>
              </a:rPr>
              <a:t>IQE-040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4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Steerable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3310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Pause / skip / retry individual steps mid-run without stopping the suite.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3675887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90088"/>
            <a:ext cx="50800" cy="148132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3136392"/>
            <a:ext cx="9601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13639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4232A"/>
                </a:solidFill>
                <a:latin typeface="Calibri"/>
              </a:rPr>
              <a:t>IQE-041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02152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Shadow DOM / Web 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58768"/>
            <a:ext cx="3310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Salesforce Lightning, MS Fluent, custom component libraries — zero code today.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62856"/>
            <a:ext cx="3675887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562856"/>
            <a:ext cx="50800" cy="148132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" y="4709160"/>
            <a:ext cx="9601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709160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4232A"/>
                </a:solidFill>
                <a:latin typeface="Calibri"/>
              </a:rPr>
              <a:t>IQE-042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Cross-origin iFrame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31536"/>
            <a:ext cx="3310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Embedded payment processors &amp; legacy integrations inside web shells.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8535" y="1417320"/>
            <a:ext cx="3675887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88535" y="1417320"/>
            <a:ext cx="50800" cy="148132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53127" y="1563624"/>
            <a:ext cx="9601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7" y="1563624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4232A"/>
                </a:solidFill>
                <a:latin typeface="Calibri"/>
              </a:rPr>
              <a:t>IQE-043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1415" y="1929384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Hybrid DOM + Canvas (DOM layer)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5" y="2286000"/>
            <a:ext cx="3310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Test the DOM shell of canvas apps; canvas pixels are MVP3.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5" y="2990088"/>
            <a:ext cx="3675887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8535" y="2990088"/>
            <a:ext cx="50800" cy="148132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53127" y="3136392"/>
            <a:ext cx="9601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7" y="313639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4232A"/>
                </a:solidFill>
                <a:latin typeface="Calibri"/>
              </a:rPr>
              <a:t>IQE-052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1415" y="3502152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ADO Repos code push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1415" y="3858768"/>
            <a:ext cx="3310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parseRepoUrl rejects dev.azure.com — Azure DevOps git push not wired.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88535" y="4562856"/>
            <a:ext cx="3675887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88535" y="4562856"/>
            <a:ext cx="50800" cy="148132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53127" y="4709160"/>
            <a:ext cx="9601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53127" y="4709160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4232A"/>
                </a:solidFill>
                <a:latin typeface="Calibri"/>
              </a:rPr>
              <a:t>IQE-060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1415" y="5074920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IP allowlist / blocklist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1415" y="5431536"/>
            <a:ext cx="3310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Network-level access control per tenant — no code yet.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4150" y="1417320"/>
            <a:ext cx="3675887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74150" y="1417320"/>
            <a:ext cx="50800" cy="148132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38742" y="1563624"/>
            <a:ext cx="9601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38742" y="1563624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4232A"/>
                </a:solidFill>
                <a:latin typeface="Calibri"/>
              </a:rPr>
              <a:t>IQE-062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7030" y="1929384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Row-level database security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57030" y="2286000"/>
            <a:ext cx="3310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Tenancy is app-layer WHERE tenant_id only; no DB-enforced isolation.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74150" y="2990088"/>
            <a:ext cx="3675887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74150" y="2990088"/>
            <a:ext cx="50800" cy="148132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38742" y="3136392"/>
            <a:ext cx="9601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38742" y="313639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4232A"/>
                </a:solidFill>
                <a:latin typeface="Calibri"/>
              </a:rPr>
              <a:t>IQE-072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57030" y="3502152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GCP / GKE deployment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7030" y="3858768"/>
            <a:ext cx="3310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All deploy tooling is Azure; GCP is only a storage provider + strategy doc.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74150" y="4562856"/>
            <a:ext cx="3675887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74150" y="4562856"/>
            <a:ext cx="50800" cy="148132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38742" y="4709160"/>
            <a:ext cx="960120" cy="274320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38742" y="4709160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4232A"/>
                </a:solidFill>
                <a:latin typeface="Calibri"/>
              </a:rPr>
              <a:t>IQE-073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57030" y="5074920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Custom-VNet assessment process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57030" y="5431536"/>
            <a:ext cx="3310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Non-standard segmentation / compliance — process not documented.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B5631A"/>
                </a:solidFill>
                <a:latin typeface="Calibri"/>
              </a:rPr>
              <a:t>REQUIRED — FINISH &amp; HARDEN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MVP 2 · Partial (20)  —  grouped by theme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8072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80720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371600"/>
            <a:ext cx="25328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Security must-close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93392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FEB"/>
                </a:solidFill>
                <a:latin typeface="Calibri"/>
              </a:rPr>
              <a:t>IQE-055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RBAC enforced on NO route (SSO works, roles don't gate)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7432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FEB"/>
                </a:solidFill>
                <a:latin typeface="Calibri"/>
              </a:rPr>
              <a:t>IQE-056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Session timeout global-only; MFA only if enrolled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493008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FEB"/>
                </a:solidFill>
                <a:latin typeface="Calibri"/>
              </a:rPr>
              <a:t>IQE-057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Vault opt-in; creds still stored encrypted in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4242816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FEB"/>
                </a:solidFill>
                <a:latin typeface="Calibri"/>
              </a:rPr>
              <a:t>IQE-058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Audit viewer + CSV, no PDF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992624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FEB"/>
                </a:solidFill>
                <a:latin typeface="Calibri"/>
              </a:rPr>
              <a:t>IQE-059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Retention = hardcoded newest-10, not per-tenant/expiry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371600"/>
            <a:ext cx="28072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1371600"/>
            <a:ext cx="2807208" cy="47548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1371600"/>
            <a:ext cx="25328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Observability &amp;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1993392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7490"/>
                </a:solidFill>
                <a:latin typeface="Calibri"/>
              </a:rPr>
              <a:t>IQE-061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FinOps is a pre-run estimator — no real tracking/throttle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7432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7490"/>
                </a:solidFill>
                <a:latin typeface="Calibri"/>
              </a:rPr>
              <a:t>IQE-063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Per-stage effort plumbed but never sent to the LLM (dead)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3493008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7490"/>
                </a:solidFill>
                <a:latin typeface="Calibri"/>
              </a:rPr>
              <a:t>IQE-064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Per-run USD only; no tokens / agent attribution /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4242816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7490"/>
                </a:solidFill>
                <a:latin typeface="Calibri"/>
              </a:rPr>
              <a:t>IQE-065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Agent scoring in-memory last-200; no trend/accuracy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4992624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7490"/>
                </a:solidFill>
                <a:latin typeface="Calibri"/>
              </a:rPr>
              <a:t>IQE-066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Per-run heal counts; no aggregate rate/accuracy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371600"/>
            <a:ext cx="28072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1371600"/>
            <a:ext cx="2807208" cy="475488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371600"/>
            <a:ext cx="25328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Analytics &amp;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993392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137D8"/>
                </a:solidFill>
                <a:latin typeface="Calibri"/>
              </a:rPr>
              <a:t>IQE-067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Pass-rate trend; no sprint/release coverage trend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432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137D8"/>
                </a:solidFill>
                <a:latin typeface="Calibri"/>
              </a:rPr>
              <a:t>IQE-068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Flaky detect + MANUAL quarantine; no auto-quarantine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93008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137D8"/>
                </a:solidFill>
                <a:latin typeface="Calibri"/>
              </a:rPr>
              <a:t>IQE-069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Agent dashboard shows duration+success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42816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137D8"/>
                </a:solidFill>
                <a:latin typeface="Calibri"/>
              </a:rPr>
              <a:t>IQE-070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Trigger emails only; no daily/weekly digest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92624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137D8"/>
                </a:solidFill>
                <a:latin typeface="Calibri"/>
              </a:rPr>
              <a:t>IQE-036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Audit logs user/API actions, not agent decisions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53144" y="1371600"/>
            <a:ext cx="28072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53144" y="1371600"/>
            <a:ext cx="2807208" cy="475488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1371600"/>
            <a:ext cx="25328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Pipeline, API &amp; onboarding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1993392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F52"/>
                </a:solidFill>
                <a:latin typeface="Calibri"/>
              </a:rPr>
              <a:t>IQE-035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CI run real; PR webhook capture-only, no auto-run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27432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F52"/>
                </a:solidFill>
                <a:latin typeface="Calibri"/>
              </a:rPr>
              <a:t>IQE-039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Scheduler/CI/env done; no named Smoke/Reg/Full templates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3493008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F52"/>
                </a:solidFill>
                <a:latin typeface="Calibri"/>
              </a:rPr>
              <a:t>IQE-045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GraphQL ops run; errors[] contract never validated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4242816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F52"/>
                </a:solidFill>
                <a:latin typeface="Calibri"/>
              </a:rPr>
              <a:t>IQE-050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ADO pipelines; no azure-pipelines.yml template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4992624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F52"/>
                </a:solidFill>
                <a:latin typeface="Calibri"/>
              </a:rPr>
              <a:t>IQE-074  </a:t>
            </a:r>
            <a:r>
              <a:rPr sz="1050" b="0" i="0">
                <a:solidFill>
                  <a:srgbClr val="5C6470"/>
                </a:solidFill>
                <a:latin typeface="Calibri"/>
              </a:rPr>
              <a:t>Signup auto-creates tenant; no guided wizard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B5631A"/>
                </a:solidFill>
                <a:latin typeface="Calibri"/>
              </a:rPr>
              <a:t>WHERE THE GAPS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Four themes explain nearly every remaining MVP2 item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50468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63500" cy="2148840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18488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1.  Core web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49560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Shadow DOM, cross-origin iFrame, DOM+Canvas, steerable execution. The web generate→execute→heal pipeline can't yet touch non-standard surfaces.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4956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B4232A"/>
                </a:solidFill>
                <a:latin typeface="Calibri"/>
              </a:rPr>
              <a:t>Features:  </a:t>
            </a:r>
            <a:r>
              <a:rPr sz="1050" b="1" i="0">
                <a:solidFill>
                  <a:srgbClr val="8A929E"/>
                </a:solidFill>
                <a:latin typeface="Calibri"/>
              </a:rPr>
              <a:t>041 · 042 · 043 · 040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417320"/>
            <a:ext cx="550468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35624" y="1417320"/>
            <a:ext cx="63500" cy="2148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618488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2.  Platform security &amp;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075688"/>
            <a:ext cx="49560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RBAC must actually gate routes; IP allow/block; DB row-level tenancy; vault-first secrets; per-tenant retention &amp; session. These are enterprise purchase-blockers.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154680"/>
            <a:ext cx="4956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FEB"/>
                </a:solidFill>
                <a:latin typeface="Calibri"/>
              </a:rPr>
              <a:t>Features:  </a:t>
            </a:r>
            <a:r>
              <a:rPr sz="1050" b="1" i="0">
                <a:solidFill>
                  <a:srgbClr val="8A929E"/>
                </a:solidFill>
                <a:latin typeface="Calibri"/>
              </a:rPr>
              <a:t>055 · 056 · 057 · 059 · 060 · 062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12464"/>
            <a:ext cx="550468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12464"/>
            <a:ext cx="63500" cy="21488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13632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3.  Durable analytics &amp;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2"/>
            <a:ext cx="49560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Tokens, cost, heal success, agent accuracy and coverage must persist and trend — not live in memory or per-run only.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9824"/>
            <a:ext cx="4956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7490"/>
                </a:solidFill>
                <a:latin typeface="Calibri"/>
              </a:rPr>
              <a:t>Features:  </a:t>
            </a:r>
            <a:r>
              <a:rPr sz="1050" b="1" i="0">
                <a:solidFill>
                  <a:srgbClr val="8A929E"/>
                </a:solidFill>
                <a:latin typeface="Calibri"/>
              </a:rPr>
              <a:t>061 · 064 · 065 · 066 · 067 · 068 · 069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3712464"/>
            <a:ext cx="550468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35624" y="3712464"/>
            <a:ext cx="63500" cy="214884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3913632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4.  Multi-cloud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4370832"/>
            <a:ext cx="49560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470"/>
                </a:solidFill>
                <a:latin typeface="Calibri"/>
              </a:rPr>
              <a:t>All deployment tooling is Azure-first. GCP/GKE, AWS/EKS (MVP3) and custom-VNet assessment are required for NRG / CenterPoint / healthcare.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5449824"/>
            <a:ext cx="4956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137D8"/>
                </a:solidFill>
                <a:latin typeface="Calibri"/>
              </a:rPr>
              <a:t>Features:  </a:t>
            </a:r>
            <a:r>
              <a:rPr sz="1050" b="1" i="0">
                <a:solidFill>
                  <a:srgbClr val="8A929E"/>
                </a:solidFill>
                <a:latin typeface="Calibri"/>
              </a:rPr>
              <a:t>072 · 073 · (098 MVP3)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1F6FEB"/>
                </a:solidFill>
                <a:latin typeface="Calibri"/>
              </a:rPr>
              <a:t>RECOMMENDED BUILD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Three waves — unblock enterprise deals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75887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75887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36192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50">
                <a:solidFill>
                  <a:srgbClr val="FFFFFF"/>
                </a:solidFill>
                <a:latin typeface="Calibri"/>
              </a:rPr>
              <a:t>WAVE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01368"/>
            <a:ext cx="3310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Platform hardening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23160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C6470"/>
                </a:solidFill>
                <a:latin typeface="Calibri"/>
              </a:rPr>
              <a:t>Enterprise blockers — small, high-leverage.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2944368"/>
            <a:ext cx="82296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880360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Enforce RBAC on every route (requirePermission)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3511296"/>
            <a:ext cx="82296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447288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IP allowlist/blocklist per tenant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4078224"/>
            <a:ext cx="82296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014216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DB row-level security for tenancy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4645152"/>
            <a:ext cx="82296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581144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Per-tenant retention + session timeout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5212080"/>
            <a:ext cx="82296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148072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Vault-first secret resolution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8535" y="1417320"/>
            <a:ext cx="3675887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8535" y="1417320"/>
            <a:ext cx="3675887" cy="9144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9703" y="1536192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50">
                <a:solidFill>
                  <a:srgbClr val="FFFFFF"/>
                </a:solidFill>
                <a:latin typeface="Calibri"/>
              </a:rPr>
              <a:t>WAVE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3" y="1801368"/>
            <a:ext cx="3310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Observability &amp;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3" y="2423160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C6470"/>
                </a:solidFill>
                <a:latin typeface="Calibri"/>
              </a:rPr>
              <a:t>Proves the 60% maintenance-reduction claim.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9703" y="2944368"/>
            <a:ext cx="82296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3" y="2880360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Persist tokens + USD per agent/run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9703" y="3511296"/>
            <a:ext cx="82296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583" y="3447288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Heal success rate &amp; accuracy over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9703" y="4078224"/>
            <a:ext cx="82296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583" y="4014216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Agent accuracy / false-positive trend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9703" y="4645152"/>
            <a:ext cx="82296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3" y="4581144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Coverage trend by sprint/release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9703" y="5212080"/>
            <a:ext cx="82296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2583" y="5148072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Auto-quarantine flaky tests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4150" y="1417320"/>
            <a:ext cx="3675887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4150" y="1417320"/>
            <a:ext cx="3675887" cy="9144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8" y="1536192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50">
                <a:solidFill>
                  <a:srgbClr val="FFFFFF"/>
                </a:solidFill>
                <a:latin typeface="Calibri"/>
              </a:rPr>
              <a:t>WAVE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18" y="1801368"/>
            <a:ext cx="3310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Heavy lifts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18" y="2423160"/>
            <a:ext cx="3310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C6470"/>
                </a:solidFill>
                <a:latin typeface="Calibri"/>
              </a:rPr>
              <a:t>Largest effort — schedule deliberately.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18" y="2944368"/>
            <a:ext cx="82296" cy="82296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198" y="2880360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Core-web surfaces: Shadow DOM, iFrame, Canvas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18" y="3511296"/>
            <a:ext cx="82296" cy="82296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198" y="3447288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Steerable execution (pause/skip/retry)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8" y="4078224"/>
            <a:ext cx="82296" cy="82296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198" y="4014216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GCP/GKE + AWS/EKS deployment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18" y="4645152"/>
            <a:ext cx="82296" cy="82296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198" y="4581144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ADO Repos push + custom-VNet process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18" y="5212080"/>
            <a:ext cx="82296" cy="82296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198" y="5148072"/>
            <a:ext cx="31272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D21"/>
                </a:solidFill>
                <a:latin typeface="Calibri"/>
              </a:rPr>
              <a:t>GraphQL errors[] contract assertions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8137D8"/>
                </a:solidFill>
                <a:latin typeface="Calibri"/>
              </a:rPr>
              <a:t>BEYOND MVP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MVP 3 frontier — the required features that follow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C6470"/>
                </a:solidFill>
                <a:latin typeface="Calibri"/>
              </a:rPr>
              <a:t>Planned, not yet in flight. Several map directly to high-value market gaps (next section).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75887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675887" cy="508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11096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137D8"/>
                </a:solidFill>
                <a:latin typeface="Calibri"/>
              </a:rPr>
              <a:t>Visual AI / non-DOM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IQE-079 Visual AI execution (Claude Vision)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IQE-082 Canvas / WebGL apps (ArcGIS, maps, 3D)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43784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IQE-093 Claude Vision API for non-DOM surfaces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5" y="1783080"/>
            <a:ext cx="3675887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5" y="1783080"/>
            <a:ext cx="3675887" cy="508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5" y="1911096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137D8"/>
                </a:solidFill>
                <a:latin typeface="Calibri"/>
              </a:rPr>
              <a:t>AI-native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5" y="2240280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IQE-077 Agentic validation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5" y="2542032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IQE-080 Non-deterministic assertion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5" y="2843784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IQE-094 Multi-LLM (OpenAI / Gemini)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0" y="1783080"/>
            <a:ext cx="3675887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4150" y="1783080"/>
            <a:ext cx="3675887" cy="508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0" y="1911096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137D8"/>
                </a:solidFill>
                <a:latin typeface="Calibri"/>
              </a:rPr>
              <a:t>Native 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0" y="2240280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IQE-081 Real device farm (iOS/Android)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0" y="2542032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IQE-083 Native iOS &amp; Android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0" y="2843784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IQE-084 React Native &amp; Flutter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82696"/>
            <a:ext cx="3675887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282696"/>
            <a:ext cx="3675887" cy="508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410712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137D8"/>
                </a:solidFill>
                <a:latin typeface="Calibri"/>
              </a:rPr>
              <a:t>Protocols &amp; integrations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739896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IQE-085 gRPC / WebSocket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041648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IQE-087/088/089 qTest · Zephyr · ServiceNow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43400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IQE-075/076 BDD Gherkin · OpenAPI ingestion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8535" y="3282696"/>
            <a:ext cx="3675887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8535" y="3282696"/>
            <a:ext cx="3675887" cy="508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1415" y="3410712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137D8"/>
                </a:solidFill>
                <a:latin typeface="Calibri"/>
              </a:rPr>
              <a:t>Regulated &amp; energy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1415" y="3739896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IQE-090 NERC CIP compliance brief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1415" y="4041648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IQE-091 HITL approval gates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5" y="4343400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IQE-086 OT/IT API layer (read-only)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4150" y="3282696"/>
            <a:ext cx="3675887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74150" y="3282696"/>
            <a:ext cx="3675887" cy="508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7030" y="3410712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137D8"/>
                </a:solidFill>
                <a:latin typeface="Calibri"/>
              </a:rPr>
              <a:t>Enterprise &amp; 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0" y="3739896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IQE-096 Board-level executive 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0" y="4041648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IQE-098 AWS / EKS 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7030" y="4343400"/>
            <a:ext cx="33101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C6470"/>
                </a:solidFill>
                <a:latin typeface="Calibri"/>
              </a:rPr>
              <a:t>•  IQE-099 Air-gapped / offline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82296" cy="182880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spc="220">
                <a:solidFill>
                  <a:srgbClr val="C2A3EC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69748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market pain IntelliQE should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8CED8"/>
                </a:solidFill>
                <a:latin typeface="Calibri"/>
              </a:rPr>
              <a:t>What buyers punish no-code AI test tools for in 2026 — and which required features answer each complaint.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8137D8"/>
                </a:solidFill>
                <a:latin typeface="Calibri"/>
              </a:rPr>
              <a:t>MARKET PAIN · NO-CODE AI TESTING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What buyers complain about — recurring across vendors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7588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0800" cy="157276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17904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Canvas &amp; Shadow-DOM blind spots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75104"/>
            <a:ext cx="3291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C6470"/>
                </a:solidFill>
                <a:latin typeface="Calibri"/>
              </a:rPr>
              <a:t>DOM-only identification breaks on canvas, Shadow DOM and web-components (mabl, Functionize).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5" y="1371600"/>
            <a:ext cx="367588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5" y="1371600"/>
            <a:ext cx="50800" cy="1572768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3" y="1517904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False heals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3" y="1975104"/>
            <a:ext cx="3291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C6470"/>
                </a:solidFill>
                <a:latin typeface="Calibri"/>
              </a:rPr>
              <a:t>Self-healing swaps a locator and goes green while the assertion no longer checks the intended behaviour.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0" y="1371600"/>
            <a:ext cx="367588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0" y="1371600"/>
            <a:ext cx="50800" cy="1572768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1517904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Selector-only healing is shallow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1975104"/>
            <a:ext cx="3291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C6470"/>
                </a:solidFill>
                <a:latin typeface="Calibri"/>
              </a:rPr>
              <a:t>Locator-swapping addresses only ~28% of real failures; the rest still break.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35808"/>
            <a:ext cx="367588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035808"/>
            <a:ext cx="50800" cy="1572768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182112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Opaque, volume-scaled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639312"/>
            <a:ext cx="3291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C6470"/>
                </a:solidFill>
                <a:latin typeface="Calibri"/>
              </a:rPr>
              <a:t>Credit/consumption models make cost unpredictable; spend climbs with test volume.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5" y="3035808"/>
            <a:ext cx="367588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8535" y="3035808"/>
            <a:ext cx="50800" cy="1572768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3" y="3182112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Cloud-only lock-in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3" y="3639312"/>
            <a:ext cx="3291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C6470"/>
                </a:solidFill>
                <a:latin typeface="Calibri"/>
              </a:rPr>
              <a:t>No local / in-tenant execution — a blocker for regulated &amp; data-resident teams (Functionize).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0" y="3035808"/>
            <a:ext cx="367588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4150" y="3035808"/>
            <a:ext cx="50800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8" y="3182112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Rigid natural-language syntax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8" y="3639312"/>
            <a:ext cx="3291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C6470"/>
                </a:solidFill>
                <a:latin typeface="Calibri"/>
              </a:rPr>
              <a:t>Deviate from the accepted phrasing and the test needs manual correction (testRigor).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00016"/>
            <a:ext cx="367588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700016"/>
            <a:ext cx="50800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846320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Edge cases still need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303520"/>
            <a:ext cx="3291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C6470"/>
                </a:solidFill>
                <a:latin typeface="Calibri"/>
              </a:rPr>
              <a:t>'No-code' tools fall back to JavaScript for anything non-trivial (Testim).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8535" y="4700016"/>
            <a:ext cx="367588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88535" y="4700016"/>
            <a:ext cx="50800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9703" y="4846320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Weak legacy / specialized apps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9703" y="5303520"/>
            <a:ext cx="3291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C6470"/>
                </a:solidFill>
                <a:latin typeface="Calibri"/>
              </a:rPr>
              <a:t>SAP, Citrix, mainframe, desktop largely unsupported across the category.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74150" y="4700016"/>
            <a:ext cx="367588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74150" y="4700016"/>
            <a:ext cx="50800" cy="15727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8" y="4846320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LLM / chatbot output testing is rare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8" y="5303520"/>
            <a:ext cx="3291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C6470"/>
                </a:solidFill>
                <a:latin typeface="Calibri"/>
              </a:rPr>
              <a:t>Validating non-deterministic AI output is still a niche, immature capability.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8137D8"/>
                </a:solidFill>
                <a:latin typeface="Calibri"/>
              </a:rPr>
              <a:t>PAIN → REQUIRED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How IntelliQE's roadmap answers each complaint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4023360" cy="42062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417320"/>
            <a:ext cx="7159752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17320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80">
                <a:solidFill>
                  <a:srgbClr val="FFFFFF"/>
                </a:solidFill>
                <a:latin typeface="Calibri"/>
              </a:rPr>
              <a:t>MARKET PAIN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1417320"/>
            <a:ext cx="6949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80">
                <a:solidFill>
                  <a:srgbClr val="FFFFFF"/>
                </a:solidFill>
                <a:latin typeface="Calibri"/>
              </a:rPr>
              <a:t>INTELLIQE ANSWER  (feature IDs)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37944"/>
            <a:ext cx="402336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37944"/>
            <a:ext cx="7159752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837944"/>
            <a:ext cx="38100" cy="562356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837944"/>
            <a:ext cx="3749039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D21"/>
                </a:solidFill>
                <a:latin typeface="Calibri"/>
              </a:rPr>
              <a:t>Canvas &amp; Shadow-DOM blind spots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837944"/>
            <a:ext cx="685800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IQE-041/043/079/082 — Shadow DOM + Visual AI (Claude Vision) for canvas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00300"/>
            <a:ext cx="4023360" cy="562356"/>
          </a:xfrm>
          <a:prstGeom prst="rect">
            <a:avLst/>
          </a:prstGeom>
          <a:solidFill>
            <a:srgbClr val="F0F2F5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2400300"/>
            <a:ext cx="7159752" cy="562356"/>
          </a:xfrm>
          <a:prstGeom prst="rect">
            <a:avLst/>
          </a:prstGeom>
          <a:solidFill>
            <a:srgbClr val="F0F2F5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400300"/>
            <a:ext cx="38100" cy="5623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400300"/>
            <a:ext cx="3749039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D21"/>
                </a:solidFill>
                <a:latin typeface="Calibri"/>
              </a:rPr>
              <a:t>False heals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2400300"/>
            <a:ext cx="685800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Healer triggers only on flaky/contract change, re-runs to confirm, logs outcome (IQE-009/032)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62656"/>
            <a:ext cx="402336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2962656"/>
            <a:ext cx="7159752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962656"/>
            <a:ext cx="38100" cy="5623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62656"/>
            <a:ext cx="3749039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D21"/>
                </a:solidFill>
                <a:latin typeface="Calibri"/>
              </a:rPr>
              <a:t>Selector-only healing is shallow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2962656"/>
            <a:ext cx="685800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Intent-based semantic healing + agentic validation (IQE-077/080), not locator-swap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25012"/>
            <a:ext cx="4023360" cy="562356"/>
          </a:xfrm>
          <a:prstGeom prst="rect">
            <a:avLst/>
          </a:prstGeom>
          <a:solidFill>
            <a:srgbClr val="F0F2F5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3525012"/>
            <a:ext cx="7159752" cy="562356"/>
          </a:xfrm>
          <a:prstGeom prst="rect">
            <a:avLst/>
          </a:prstGeom>
          <a:solidFill>
            <a:srgbClr val="F0F2F5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525012"/>
            <a:ext cx="38100" cy="5623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525012"/>
            <a:ext cx="3749039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D21"/>
                </a:solidFill>
                <a:latin typeface="Calibri"/>
              </a:rPr>
              <a:t>Opaque, volume-scaled pricing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3525012"/>
            <a:ext cx="685800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Customer-provided keys + per-tenant budget &amp; token attribution (IQE-030/061/064)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087368"/>
            <a:ext cx="402336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4087368"/>
            <a:ext cx="7159752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087368"/>
            <a:ext cx="38100" cy="5623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087368"/>
            <a:ext cx="3749039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D21"/>
                </a:solidFill>
                <a:latin typeface="Calibri"/>
              </a:rPr>
              <a:t>Cloud-only lock-in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872" y="4087368"/>
            <a:ext cx="685800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In-tenant sidecar, air-gapped deploy, customer data containment (IQE-025/028/099)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649724"/>
            <a:ext cx="4023360" cy="562356"/>
          </a:xfrm>
          <a:prstGeom prst="rect">
            <a:avLst/>
          </a:prstGeom>
          <a:solidFill>
            <a:srgbClr val="F0F2F5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26280" y="4649724"/>
            <a:ext cx="7159752" cy="562356"/>
          </a:xfrm>
          <a:prstGeom prst="rect">
            <a:avLst/>
          </a:prstGeom>
          <a:solidFill>
            <a:srgbClr val="F0F2F5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649724"/>
            <a:ext cx="38100" cy="5623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649724"/>
            <a:ext cx="3749039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D21"/>
                </a:solidFill>
                <a:latin typeface="Calibri"/>
              </a:rPr>
              <a:t>Edge cases still need code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4649724"/>
            <a:ext cx="685800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GitHub code push — full Playwright escape hatch, never a black box (IQE-008/014)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212080"/>
            <a:ext cx="402336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26280" y="5212080"/>
            <a:ext cx="7159752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212080"/>
            <a:ext cx="38100" cy="56235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212080"/>
            <a:ext cx="3749039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D21"/>
                </a:solidFill>
                <a:latin typeface="Calibri"/>
              </a:rPr>
              <a:t>LLM / chatbot output testing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0872" y="5212080"/>
            <a:ext cx="685800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Non-deterministic assertion framework + semantic assertions (IQE-077/080)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774436"/>
            <a:ext cx="4023360" cy="562356"/>
          </a:xfrm>
          <a:prstGeom prst="rect">
            <a:avLst/>
          </a:prstGeom>
          <a:solidFill>
            <a:srgbClr val="F0F2F5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26280" y="5774436"/>
            <a:ext cx="7159752" cy="562356"/>
          </a:xfrm>
          <a:prstGeom prst="rect">
            <a:avLst/>
          </a:prstGeom>
          <a:solidFill>
            <a:srgbClr val="F0F2F5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774436"/>
            <a:ext cx="38100" cy="562356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774436"/>
            <a:ext cx="3749039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D21"/>
                </a:solidFill>
                <a:latin typeface="Calibri"/>
              </a:rPr>
              <a:t>Weak governance / audit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90872" y="5774436"/>
            <a:ext cx="685800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Audit agent, compliance log, HITL gates, NERC CIP brief (IQE-036/058/090/091)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1A7F52"/>
                </a:solidFill>
                <a:latin typeface="Calibri"/>
              </a:rPr>
              <a:t>WHERE INTELLIQE ALREADY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Structural advantages competitors can't easily copy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75887" cy="2103120"/>
          </a:xfrm>
          <a:prstGeom prst="roundRect">
            <a:avLst/>
          </a:prstGeom>
          <a:solidFill>
            <a:srgbClr val="E7F4EE"/>
          </a:solidFill>
          <a:ln w="12700">
            <a:solidFill>
              <a:srgbClr val="C7E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664208"/>
            <a:ext cx="3236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7F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93392"/>
            <a:ext cx="323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In-tenant / air-gapped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633472"/>
            <a:ext cx="32369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Runs entirely inside the customer's Azure/GCP tenant with kill switches — most rivals are cloud-only SaaS.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5" y="1463040"/>
            <a:ext cx="3675887" cy="2103120"/>
          </a:xfrm>
          <a:prstGeom prst="roundRect">
            <a:avLst/>
          </a:prstGeom>
          <a:solidFill>
            <a:srgbClr val="E7F4EE"/>
          </a:solidFill>
          <a:ln w="12700">
            <a:solidFill>
              <a:srgbClr val="C7E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1" y="1664208"/>
            <a:ext cx="3236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7F5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1" y="1993392"/>
            <a:ext cx="323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Customer-owned LLM keys + budget caps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1" y="2633472"/>
            <a:ext cx="32369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No surprise consumption bill; token spend is tracked and capped per tenant.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0" y="1463040"/>
            <a:ext cx="3675887" cy="2103120"/>
          </a:xfrm>
          <a:prstGeom prst="roundRect">
            <a:avLst/>
          </a:prstGeom>
          <a:solidFill>
            <a:srgbClr val="E7F4EE"/>
          </a:solidFill>
          <a:ln w="12700">
            <a:solidFill>
              <a:srgbClr val="C7E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6" y="1664208"/>
            <a:ext cx="3236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7F52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6" y="1993392"/>
            <a:ext cx="323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Full generate→execute→heal agent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6" y="2633472"/>
            <a:ext cx="32369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Requirement → Planner → Generator → Healer → Audit — not just a resilient recorder.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12464"/>
            <a:ext cx="3675887" cy="2103120"/>
          </a:xfrm>
          <a:prstGeom prst="roundRect">
            <a:avLst/>
          </a:prstGeom>
          <a:solidFill>
            <a:srgbClr val="E7F4EE"/>
          </a:solidFill>
          <a:ln w="12700">
            <a:solidFill>
              <a:srgbClr val="C7E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3913632"/>
            <a:ext cx="3236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7F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242816"/>
            <a:ext cx="323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Real Playwright code, pushed to git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4882896"/>
            <a:ext cx="32369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An escape hatch to real JS/TS — never a locked black box when edge cases hit.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5" y="3712464"/>
            <a:ext cx="3675887" cy="2103120"/>
          </a:xfrm>
          <a:prstGeom prst="roundRect">
            <a:avLst/>
          </a:prstGeom>
          <a:solidFill>
            <a:srgbClr val="E7F4EE"/>
          </a:solidFill>
          <a:ln w="12700">
            <a:solidFill>
              <a:srgbClr val="C7E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1" y="3913632"/>
            <a:ext cx="3236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7F52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1" y="4242816"/>
            <a:ext cx="323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True API + Web + DB hybrid (API Studio)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1" y="4882896"/>
            <a:ext cx="32369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Dozens of market-grade API capabilities already shipped alongside the web lab.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0" y="3712464"/>
            <a:ext cx="3675887" cy="2103120"/>
          </a:xfrm>
          <a:prstGeom prst="roundRect">
            <a:avLst/>
          </a:prstGeom>
          <a:solidFill>
            <a:srgbClr val="E7F4EE"/>
          </a:solidFill>
          <a:ln w="12700">
            <a:solidFill>
              <a:srgbClr val="C7E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6" y="3913632"/>
            <a:ext cx="3236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7F52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6" y="4242816"/>
            <a:ext cx="323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Claude-native → AI-era testing 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6" y="4882896"/>
            <a:ext cx="32369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Positioned for LLM-output, MCP and semantic assertion testing most tools lack.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8137D8"/>
                </a:solidFill>
                <a:latin typeface="Calibri"/>
              </a:rPr>
              <a:t>MARKET-DRIVEN ADDITIONS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High-value features beyond the registry — to lead, not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55040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50408" cy="512064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417320"/>
            <a:ext cx="518464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TIER 1 — true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130552"/>
            <a:ext cx="5111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BOLA / BFLA authz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432304"/>
            <a:ext cx="5111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Multi-role authenticated scans — the #1 API vuln class (cf APIsec, Akto).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063240"/>
            <a:ext cx="5111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Spec-vs-spec breaking-change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364992"/>
            <a:ext cx="5111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Block breaking API changes in the PR before merge (cf oasdiff/Optic).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995928"/>
            <a:ext cx="5111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Deterministic record-replay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297680"/>
            <a:ext cx="5111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Stub downstream deps + freeze time → zero-flake, zero-LLM-cost CI reruns.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928616"/>
            <a:ext cx="5111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LLM / MCP-era test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230368"/>
            <a:ext cx="5111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OWASP LLM Top-10, output-quality regression, MCP tool-poisoning tests.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417320"/>
            <a:ext cx="555040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417320"/>
            <a:ext cx="5550408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417320"/>
            <a:ext cx="518464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TIER 2 — deepen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130552"/>
            <a:ext cx="5111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Synthetic monitoring + APM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432304"/>
            <a:ext cx="5111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Global/private checks, OTel correlation, canary / auto-rollback.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063240"/>
            <a:ext cx="5111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API governance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364992"/>
            <a:ext cx="5111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Catalog/registry, versioning/deprecation, two-way spec sync.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995928"/>
            <a:ext cx="5111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Enterprise test-data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297680"/>
            <a:ext cx="5111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Referential-integrity synthetic data, prod subsetting, dataset versioning.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928616"/>
            <a:ext cx="5111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Deeper async + stateful 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230368"/>
            <a:ext cx="5111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470"/>
                </a:solidFill>
                <a:latin typeface="Calibri"/>
              </a:rPr>
              <a:t>gRPC/Kafka full, white-box/stateful generation, mutation testing.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35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A929E"/>
                </a:solidFill>
                <a:latin typeface="Calibri"/>
              </a:rPr>
              <a:t>Tier 3 (strategic): AI-era compliance (EU AI Act, DORA), FinOps metering, local-first / IDE authoring, monitoring-as-code.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6350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40">
                <a:solidFill>
                  <a:srgbClr val="1F6FEB"/>
                </a:solidFill>
                <a:latin typeface="Calibri"/>
              </a:rPr>
              <a:t>PRIORITY ON ONE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1D21"/>
                </a:solidFill>
                <a:latin typeface="Calibri"/>
              </a:rPr>
              <a:t>Impact vs effort — where to spend 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554480"/>
            <a:ext cx="9418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  <a:effectLst>
            <a:outerShdw blurRad="40000" dist="18000" dir="5400000" rotWithShape="0">
              <a:srgbClr val="1018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1737360"/>
            <a:ext cx="12700" cy="3931920"/>
          </a:xfrm>
          <a:prstGeom prst="rect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54480" y="3703320"/>
            <a:ext cx="9052560" cy="12700"/>
          </a:xfrm>
          <a:prstGeom prst="rect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897880"/>
            <a:ext cx="9418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00">
                <a:solidFill>
                  <a:srgbClr val="8A929E"/>
                </a:solidFill>
                <a:latin typeface="Calibri"/>
              </a:rPr>
              <a:t>EFFORT  →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320040" y="1554480"/>
            <a:ext cx="914400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00">
                <a:solidFill>
                  <a:srgbClr val="8A929E"/>
                </a:solidFill>
                <a:latin typeface="Calibri"/>
              </a:rPr>
              <a:t>IMPACT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82880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7F52"/>
                </a:solidFill>
                <a:latin typeface="Calibri"/>
              </a:rPr>
              <a:t>DO FIRST  ·  high impact, low effort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1762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Enforce RBAC on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4917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IP allow/block · DB row-level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8072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Per-tenant retention +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12267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Token/cost persistence &amp;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6FEB"/>
                </a:solidFill>
                <a:latin typeface="Calibri"/>
              </a:rPr>
              <a:t>PLAN  ·  high impact, high effort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762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Core-web: Shadow DOM / iFrame / Canvas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917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Steerable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072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GCP/GKE + AWS/EKS 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2267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BOLA/BFLA + LLM/MCP test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9319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490"/>
                </a:solidFill>
                <a:latin typeface="Calibri"/>
              </a:rPr>
              <a:t>QUICK WINS  ·  lower impact, low effort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2793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Named Smoke/Reg/Full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5948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GraphQL errors[] assertions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91032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Audit PDF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22579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Scheduled digest emails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A929E"/>
                </a:solidFill>
                <a:latin typeface="Calibri"/>
              </a:rPr>
              <a:t>LATER  ·  lower impact, high effort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793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Custom-VNet assessment 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948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ADO Repos code push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1032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Native mobile / device farm (MVP3)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22579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1A1D21"/>
                </a:solidFill>
                <a:latin typeface="Calibri"/>
              </a:rPr>
              <a:t>•  Air-gapped offline (MVP3)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Feature Gap &amp; Market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00">
                <a:solidFill>
                  <a:srgbClr val="9DB6E8"/>
                </a:solidFill>
                <a:latin typeface="Calibri"/>
              </a:rP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10972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to do with this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" y="2103120"/>
            <a:ext cx="548640" cy="5486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103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84832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Fill the registry status honestly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04872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2C8D2"/>
                </a:solidFill>
                <a:latin typeface="Calibri"/>
              </a:rPr>
              <a:t>Populate the blank Implementation-Status / Gap-Notes columns from this analysis so commercial commitments match the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" y="3090672"/>
            <a:ext cx="548640" cy="5486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0906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72384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Run Wave 1 (platform hardening)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92424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2C8D2"/>
                </a:solidFill>
                <a:latin typeface="Calibri"/>
              </a:rPr>
              <a:t>RBAC enforcement, IP controls, DB row-level security, retention/session — small lifts that unblock enterprise deals.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4078224"/>
            <a:ext cx="548640" cy="5486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0782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059936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Instrument before you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79976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2C8D2"/>
                </a:solidFill>
                <a:latin typeface="Calibri"/>
              </a:rPr>
              <a:t>Persist tokens, cost and heal metrics so the 60% maintenance-reduction claim is verifiable, not asserted.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4" y="5065776"/>
            <a:ext cx="548640" cy="5486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50657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47488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Pick 2 market-leading bets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367528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2C8D2"/>
                </a:solidFill>
                <a:latin typeface="Calibri"/>
              </a:rPr>
              <a:t>BOLA/BFLA authz testing and an LLM/MCP harness differentiate most, given the Claude-native architecture.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6355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Source: Feature Registry v1.0 + live codebase gap pass + 2026 no-code AI test-automation market scan.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