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0"/>
            <a:ext cx="12191695" cy="381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spc="200">
                <a:solidFill>
                  <a:srgbClr val="9DB6E8"/>
                </a:solidFill>
                <a:latin typeface="Calibri"/>
              </a:rPr>
              <a:t>PRODUCT ROADMAP  ·  MVP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828800"/>
            <a:ext cx="106984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MVP 2 — Feature List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0" i="0">
                <a:solidFill>
                  <a:srgbClr val="C8CED8"/>
                </a:solidFill>
                <a:latin typeface="Calibri"/>
              </a:rPr>
              <a:t>Scale &amp; Enterprise  ·  40 features across 9 architecture layers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9204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8A929E"/>
                </a:solidFill>
                <a:latin typeface="Calibri"/>
              </a:rPr>
              <a:t>IQE-035 … IQE-074.  </a:t>
            </a:r>
            <a:r>
              <a:rPr sz="1300" b="0" i="0">
                <a:solidFill>
                  <a:srgbClr val="C8CED8"/>
                </a:solidFill>
                <a:latin typeface="Calibri"/>
              </a:rPr>
              <a:t>Each feature shows its description and current build status (derived from the live codebase, mid-Oct 2026).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8A929E"/>
                </a:solidFill>
                <a:latin typeface="Calibri"/>
              </a:rPr>
              <a:t>Owner  </a:t>
            </a:r>
            <a:r>
              <a:rPr sz="1300" b="0" i="0">
                <a:solidFill>
                  <a:srgbClr val="C8CED8"/>
                </a:solidFill>
                <a:latin typeface="Calibri"/>
              </a:rPr>
              <a:t>Omeesha</a:t>
            </a:r>
            <a:r>
              <a:rPr sz="1300" b="1" i="0">
                <a:solidFill>
                  <a:srgbClr val="8A929E"/>
                </a:solidFill>
                <a:latin typeface="Calibri"/>
              </a:rPr>
              <a:t>      Approver  </a:t>
            </a:r>
            <a:r>
              <a:rPr sz="1300" b="0" i="0">
                <a:solidFill>
                  <a:srgbClr val="C8CED8"/>
                </a:solidFill>
                <a:latin typeface="Calibri"/>
              </a:rPr>
              <a:t>Deepak Chandwani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04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63500" cy="4389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 spc="140">
                <a:solidFill>
                  <a:srgbClr val="1F6FEB"/>
                </a:solidFill>
                <a:latin typeface="Calibri"/>
              </a:rPr>
              <a:t>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75488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1A1D21"/>
                </a:solidFill>
                <a:latin typeface="Calibri"/>
              </a:rPr>
              <a:t>40 MVP2 features · status at a glance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365760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8A929E"/>
                </a:solidFill>
                <a:latin typeface="Calibri"/>
              </a:rPr>
              <a:t>IQE-035–074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17320"/>
            <a:ext cx="3075355" cy="731520"/>
          </a:xfrm>
          <a:prstGeom prst="rect">
            <a:avLst/>
          </a:prstGeom>
          <a:solidFill>
            <a:srgbClr val="1A7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417320"/>
            <a:ext cx="307535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11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DONE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78275" y="1417320"/>
            <a:ext cx="5591556" cy="731520"/>
          </a:xfrm>
          <a:prstGeom prst="rect">
            <a:avLst/>
          </a:prstGeom>
          <a:solidFill>
            <a:srgbClr val="B56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78275" y="1417320"/>
            <a:ext cx="5591556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20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PARTIAL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69831" y="1417320"/>
            <a:ext cx="2516200" cy="731520"/>
          </a:xfrm>
          <a:prstGeom prst="rect">
            <a:avLst/>
          </a:prstGeom>
          <a:solidFill>
            <a:srgbClr val="B4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69831" y="1417320"/>
            <a:ext cx="2516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9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NOT STARTED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4231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 spc="120">
                <a:solidFill>
                  <a:srgbClr val="8A929E"/>
                </a:solidFill>
                <a:latin typeface="Calibri"/>
              </a:rPr>
              <a:t>FEATURES BY LAYER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743200"/>
            <a:ext cx="3675887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2743200"/>
            <a:ext cx="50800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743200"/>
            <a:ext cx="276148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A1D21"/>
                </a:solidFill>
                <a:latin typeface="Calibri"/>
              </a:rPr>
              <a:t>Layer 1 · Inputs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55847" y="2743200"/>
            <a:ext cx="640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F6FEB"/>
                </a:solidFill>
                <a:latin typeface="Calibri"/>
              </a:rPr>
              <a:t>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88535" y="2743200"/>
            <a:ext cx="3675887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88535" y="2743200"/>
            <a:ext cx="50800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71415" y="2743200"/>
            <a:ext cx="276148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A1D21"/>
                </a:solidFill>
                <a:latin typeface="Calibri"/>
              </a:rPr>
              <a:t>Layer 2 · Agents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41462" y="2743200"/>
            <a:ext cx="640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F6FEB"/>
                </a:solidFill>
                <a:latin typeface="Calibri"/>
              </a:rPr>
              <a:t>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74150" y="2743200"/>
            <a:ext cx="3675887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74150" y="2743200"/>
            <a:ext cx="50800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57030" y="2743200"/>
            <a:ext cx="276148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A1D21"/>
                </a:solidFill>
                <a:latin typeface="Calibri"/>
              </a:rPr>
              <a:t>Layer 3 · Execution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27077" y="2743200"/>
            <a:ext cx="640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F6FEB"/>
                </a:solidFill>
                <a:latin typeface="Calibri"/>
              </a:rPr>
              <a:t>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419856"/>
            <a:ext cx="3675887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3419856"/>
            <a:ext cx="50800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3419856"/>
            <a:ext cx="276148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A1D21"/>
                </a:solidFill>
                <a:latin typeface="Calibri"/>
              </a:rPr>
              <a:t>Layer 4 · App Support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55847" y="3419856"/>
            <a:ext cx="640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F6FEB"/>
                </a:solidFill>
                <a:latin typeface="Calibri"/>
              </a:rPr>
              <a:t>7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88535" y="3419856"/>
            <a:ext cx="3675887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88535" y="3419856"/>
            <a:ext cx="50800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71415" y="3419856"/>
            <a:ext cx="276148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A1D21"/>
                </a:solidFill>
                <a:latin typeface="Calibri"/>
              </a:rPr>
              <a:t>Layer 5 · Integrations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41462" y="3419856"/>
            <a:ext cx="640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F6FEB"/>
                </a:solidFill>
                <a:latin typeface="Calibri"/>
              </a:rPr>
              <a:t>7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74150" y="3419856"/>
            <a:ext cx="3675887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74150" y="3419856"/>
            <a:ext cx="50800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57030" y="3419856"/>
            <a:ext cx="276148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A1D21"/>
                </a:solidFill>
                <a:latin typeface="Calibri"/>
              </a:rPr>
              <a:t>Layer 6 · Security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27077" y="3419856"/>
            <a:ext cx="640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F6FEB"/>
                </a:solidFill>
                <a:latin typeface="Calibri"/>
              </a:rPr>
              <a:t>8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4096512"/>
            <a:ext cx="3675887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02920" y="4096512"/>
            <a:ext cx="50800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4096512"/>
            <a:ext cx="276148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A1D21"/>
                </a:solidFill>
                <a:latin typeface="Calibri"/>
              </a:rPr>
              <a:t>Layer 7 · AI/LLM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55847" y="4096512"/>
            <a:ext cx="640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F6FEB"/>
                </a:solidFill>
                <a:latin typeface="Calibri"/>
              </a:rPr>
              <a:t>4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88535" y="4096512"/>
            <a:ext cx="3675887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288535" y="4096512"/>
            <a:ext cx="50800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71415" y="4096512"/>
            <a:ext cx="276148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A1D21"/>
                </a:solidFill>
                <a:latin typeface="Calibri"/>
              </a:rPr>
              <a:t>Layer 8 · Analytics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41462" y="4096512"/>
            <a:ext cx="640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F6FEB"/>
                </a:solidFill>
                <a:latin typeface="Calibri"/>
              </a:rPr>
              <a:t>5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74150" y="4096512"/>
            <a:ext cx="3675887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074150" y="4096512"/>
            <a:ext cx="50800" cy="5669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57030" y="4096512"/>
            <a:ext cx="276148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A1D21"/>
                </a:solidFill>
                <a:latin typeface="Calibri"/>
              </a:rPr>
              <a:t>Layer 9 · Deployment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27077" y="4096512"/>
            <a:ext cx="640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F6FEB"/>
                </a:solidFill>
                <a:latin typeface="Calibri"/>
              </a:rPr>
              <a:t>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50292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A1D21"/>
                </a:solidFill>
                <a:latin typeface="Calibri"/>
              </a:rPr>
              <a:t>Status key:  </a:t>
            </a:r>
            <a:r>
              <a:rPr sz="1150" b="0" i="0">
                <a:solidFill>
                  <a:srgbClr val="5C6470"/>
                </a:solidFill>
                <a:latin typeface="Calibri"/>
              </a:rPr>
              <a:t>DONE = shipped · PARTIAL = exists, needs finishing/hardening · NOT STARTED = net-new build.  29 of 40 still need work.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430000" y="643737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8A929E"/>
                </a:solidFill>
                <a:latin typeface="Calibri"/>
              </a:rP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8A929E"/>
                </a:solidFill>
                <a:latin typeface="Calibri"/>
              </a:rPr>
              <a:t>IntelliQE — MVP 2 Feature List  ·  Scale &amp; Enterprise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04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63500" cy="4389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 spc="140">
                <a:solidFill>
                  <a:srgbClr val="1F6FEB"/>
                </a:solidFill>
                <a:latin typeface="Calibri"/>
              </a:rPr>
              <a:t>FEATURE 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75488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1A1D21"/>
                </a:solidFill>
                <a:latin typeface="Calibri"/>
              </a:rPr>
              <a:t>Layer 1–3 · Inputs · Agents · Execution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365760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8A929E"/>
                </a:solidFill>
                <a:latin typeface="Calibri"/>
              </a:rPr>
              <a:t>6 features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80160"/>
            <a:ext cx="11183112" cy="6131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280160"/>
            <a:ext cx="50800" cy="613156"/>
          </a:xfrm>
          <a:prstGeom prst="rect">
            <a:avLst/>
          </a:prstGeom>
          <a:solidFill>
            <a:srgbClr val="B56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389888"/>
            <a:ext cx="932688" cy="256032"/>
          </a:xfrm>
          <a:prstGeom prst="round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89888"/>
            <a:ext cx="93268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F6FEB"/>
                </a:solidFill>
                <a:latin typeface="Calibri"/>
              </a:rPr>
              <a:t>IQE-035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1353312"/>
            <a:ext cx="7498079" cy="575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A1D21"/>
                </a:solidFill>
                <a:latin typeface="Calibri"/>
              </a:rPr>
              <a:t>CI/CD Event Triggers  —  </a:t>
            </a:r>
            <a:r>
              <a:rPr sz="1150" b="0" i="0">
                <a:solidFill>
                  <a:srgbClr val="5C6470"/>
                </a:solidFill>
                <a:latin typeface="Calibri"/>
              </a:rPr>
              <a:t>Commit / PR events trigger generation &amp; run; results returned to pipeline.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469880" y="1389888"/>
            <a:ext cx="1170432" cy="256032"/>
          </a:xfrm>
          <a:prstGeom prst="roundRect">
            <a:avLst/>
          </a:prstGeom>
          <a:solidFill>
            <a:srgbClr val="FFF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69880" y="1389888"/>
            <a:ext cx="11704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B5631A"/>
                </a:solidFill>
                <a:latin typeface="Calibri"/>
              </a:rPr>
              <a:t>PARTIAL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1956816"/>
            <a:ext cx="11183112" cy="6131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1956816"/>
            <a:ext cx="50800" cy="613156"/>
          </a:xfrm>
          <a:prstGeom prst="rect">
            <a:avLst/>
          </a:prstGeom>
          <a:solidFill>
            <a:srgbClr val="B56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8368" y="2066544"/>
            <a:ext cx="932688" cy="256032"/>
          </a:xfrm>
          <a:prstGeom prst="round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2066544"/>
            <a:ext cx="93268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F6FEB"/>
                </a:solidFill>
                <a:latin typeface="Calibri"/>
              </a:rPr>
              <a:t>IQE-036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2029968"/>
            <a:ext cx="7498079" cy="575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A1D21"/>
                </a:solidFill>
                <a:latin typeface="Calibri"/>
              </a:rPr>
              <a:t>Audit Agent  —  </a:t>
            </a:r>
            <a:r>
              <a:rPr sz="1150" b="0" i="0">
                <a:solidFill>
                  <a:srgbClr val="5C6470"/>
                </a:solidFill>
                <a:latin typeface="Calibri"/>
              </a:rPr>
              <a:t>Structured audit trail of every agent action — powers the compliance log.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69880" y="2066544"/>
            <a:ext cx="1170432" cy="256032"/>
          </a:xfrm>
          <a:prstGeom prst="roundRect">
            <a:avLst/>
          </a:prstGeom>
          <a:solidFill>
            <a:srgbClr val="FFF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69880" y="2066544"/>
            <a:ext cx="11704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B5631A"/>
                </a:solidFill>
                <a:latin typeface="Calibri"/>
              </a:rPr>
              <a:t>PARTIAL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2633472"/>
            <a:ext cx="11183112" cy="6131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2633472"/>
            <a:ext cx="50800" cy="613156"/>
          </a:xfrm>
          <a:prstGeom prst="rect">
            <a:avLst/>
          </a:prstGeom>
          <a:solidFill>
            <a:srgbClr val="1A7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8368" y="2743200"/>
            <a:ext cx="932688" cy="256032"/>
          </a:xfrm>
          <a:prstGeom prst="round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2743200"/>
            <a:ext cx="93268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F6FEB"/>
                </a:solidFill>
                <a:latin typeface="Calibri"/>
              </a:rPr>
              <a:t>IQE-037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83080" y="2706624"/>
            <a:ext cx="7498079" cy="575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A1D21"/>
                </a:solidFill>
                <a:latin typeface="Calibri"/>
              </a:rPr>
              <a:t>Parallel Execution  —  </a:t>
            </a:r>
            <a:r>
              <a:rPr sz="1150" b="0" i="0">
                <a:solidFill>
                  <a:srgbClr val="5C6470"/>
                </a:solidFill>
                <a:latin typeface="Calibri"/>
              </a:rPr>
              <a:t>Multiple suites at once; configurable worker count; measurable speed-up.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469880" y="2743200"/>
            <a:ext cx="1170432" cy="256032"/>
          </a:xfrm>
          <a:prstGeom prst="roundRect">
            <a:avLst/>
          </a:prstGeom>
          <a:solidFill>
            <a:srgbClr val="E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69880" y="2743200"/>
            <a:ext cx="11704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A7F52"/>
                </a:solidFill>
                <a:latin typeface="Calibri"/>
              </a:rPr>
              <a:t>DONE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3310128"/>
            <a:ext cx="11183112" cy="6131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3310128"/>
            <a:ext cx="50800" cy="613156"/>
          </a:xfrm>
          <a:prstGeom prst="rect">
            <a:avLst/>
          </a:prstGeom>
          <a:solidFill>
            <a:srgbClr val="1A7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58368" y="3419856"/>
            <a:ext cx="932688" cy="256032"/>
          </a:xfrm>
          <a:prstGeom prst="round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3419856"/>
            <a:ext cx="93268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F6FEB"/>
                </a:solidFill>
                <a:latin typeface="Calibri"/>
              </a:rPr>
              <a:t>IQE-038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83080" y="3383280"/>
            <a:ext cx="7498079" cy="575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A1D21"/>
                </a:solidFill>
                <a:latin typeface="Calibri"/>
              </a:rPr>
              <a:t>Load &amp; Performance Profiling  —  </a:t>
            </a:r>
            <a:r>
              <a:rPr sz="1150" b="0" i="0">
                <a:solidFill>
                  <a:srgbClr val="5C6470"/>
                </a:solidFill>
                <a:latin typeface="Calibri"/>
              </a:rPr>
              <a:t>Load / concurrency testing layered onto existing flows.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469880" y="3419856"/>
            <a:ext cx="1170432" cy="256032"/>
          </a:xfrm>
          <a:prstGeom prst="roundRect">
            <a:avLst/>
          </a:prstGeom>
          <a:solidFill>
            <a:srgbClr val="E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469880" y="3419856"/>
            <a:ext cx="11704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A7F52"/>
                </a:solidFill>
                <a:latin typeface="Calibri"/>
              </a:rPr>
              <a:t>DONE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3986784"/>
            <a:ext cx="11183112" cy="6131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2920" y="3986784"/>
            <a:ext cx="50800" cy="613156"/>
          </a:xfrm>
          <a:prstGeom prst="rect">
            <a:avLst/>
          </a:prstGeom>
          <a:solidFill>
            <a:srgbClr val="B56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58368" y="4096512"/>
            <a:ext cx="932688" cy="256032"/>
          </a:xfrm>
          <a:prstGeom prst="round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" y="4096512"/>
            <a:ext cx="93268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F6FEB"/>
                </a:solidFill>
                <a:latin typeface="Calibri"/>
              </a:rPr>
              <a:t>IQE-039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83080" y="4059936"/>
            <a:ext cx="7498079" cy="575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A1D21"/>
                </a:solidFill>
                <a:latin typeface="Calibri"/>
              </a:rPr>
              <a:t>Pipeline Templates  —  </a:t>
            </a:r>
            <a:r>
              <a:rPr sz="1150" b="0" i="0">
                <a:solidFill>
                  <a:srgbClr val="5C6470"/>
                </a:solidFill>
                <a:latin typeface="Calibri"/>
              </a:rPr>
              <a:t>Smoke / Regression / Full-suite templates + scheduled &amp; env-var runs.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469880" y="4096512"/>
            <a:ext cx="1170432" cy="256032"/>
          </a:xfrm>
          <a:prstGeom prst="roundRect">
            <a:avLst/>
          </a:prstGeom>
          <a:solidFill>
            <a:srgbClr val="FFF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469880" y="4096512"/>
            <a:ext cx="11704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B5631A"/>
                </a:solidFill>
                <a:latin typeface="Calibri"/>
              </a:rPr>
              <a:t>PARTIAL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2920" y="4663440"/>
            <a:ext cx="11183112" cy="6131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" y="4663440"/>
            <a:ext cx="50800" cy="613156"/>
          </a:xfrm>
          <a:prstGeom prst="rect">
            <a:avLst/>
          </a:prstGeom>
          <a:solidFill>
            <a:srgbClr val="B4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58368" y="4773168"/>
            <a:ext cx="932688" cy="256032"/>
          </a:xfrm>
          <a:prstGeom prst="round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" y="4773168"/>
            <a:ext cx="93268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F6FEB"/>
                </a:solidFill>
                <a:latin typeface="Calibri"/>
              </a:rPr>
              <a:t>IQE-040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783080" y="4736592"/>
            <a:ext cx="7498079" cy="575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A1D21"/>
                </a:solidFill>
                <a:latin typeface="Calibri"/>
              </a:rPr>
              <a:t>Steerable Execution  —  </a:t>
            </a:r>
            <a:r>
              <a:rPr sz="1150" b="0" i="0">
                <a:solidFill>
                  <a:srgbClr val="5C6470"/>
                </a:solidFill>
                <a:latin typeface="Calibri"/>
              </a:rPr>
              <a:t>Pause / skip / retry individual steps mid-run without stopping the suite.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469880" y="4773168"/>
            <a:ext cx="1170432" cy="256032"/>
          </a:xfrm>
          <a:prstGeom prst="roundRect">
            <a:avLst/>
          </a:prstGeom>
          <a:solidFill>
            <a:srgbClr val="FD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469880" y="4773168"/>
            <a:ext cx="11704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B4232A"/>
                </a:solidFill>
                <a:latin typeface="Calibri"/>
              </a:rPr>
              <a:t>NOT STARTED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430000" y="643737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8A929E"/>
                </a:solidFill>
                <a:latin typeface="Calibri"/>
              </a:rPr>
              <a:t>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8A929E"/>
                </a:solidFill>
                <a:latin typeface="Calibri"/>
              </a:rPr>
              <a:t>IntelliQE — MVP 2 Feature List  ·  Scale &amp; Enterprise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04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63500" cy="4389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 spc="140">
                <a:solidFill>
                  <a:srgbClr val="1F6FEB"/>
                </a:solidFill>
                <a:latin typeface="Calibri"/>
              </a:rPr>
              <a:t>FEATURE 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75488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1A1D21"/>
                </a:solidFill>
                <a:latin typeface="Calibri"/>
              </a:rPr>
              <a:t>Layer 4 · App Support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365760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8A929E"/>
                </a:solidFill>
                <a:latin typeface="Calibri"/>
              </a:rPr>
              <a:t>7 features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80160"/>
            <a:ext cx="11183112" cy="6131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280160"/>
            <a:ext cx="50800" cy="613156"/>
          </a:xfrm>
          <a:prstGeom prst="rect">
            <a:avLst/>
          </a:prstGeom>
          <a:solidFill>
            <a:srgbClr val="B4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389888"/>
            <a:ext cx="932688" cy="256032"/>
          </a:xfrm>
          <a:prstGeom prst="round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89888"/>
            <a:ext cx="93268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F6FEB"/>
                </a:solidFill>
                <a:latin typeface="Calibri"/>
              </a:rPr>
              <a:t>IQE-041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1353312"/>
            <a:ext cx="7498079" cy="575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A1D21"/>
                </a:solidFill>
                <a:latin typeface="Calibri"/>
              </a:rPr>
              <a:t>Shadow DOM / Web Components  —  </a:t>
            </a:r>
            <a:r>
              <a:rPr sz="1150" b="0" i="0">
                <a:solidFill>
                  <a:srgbClr val="5C6470"/>
                </a:solidFill>
                <a:latin typeface="Calibri"/>
              </a:rPr>
              <a:t>Salesforce Lightning, MS Fluent, custom component libraries.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469880" y="1389888"/>
            <a:ext cx="1170432" cy="256032"/>
          </a:xfrm>
          <a:prstGeom prst="roundRect">
            <a:avLst/>
          </a:prstGeom>
          <a:solidFill>
            <a:srgbClr val="FD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69880" y="1389888"/>
            <a:ext cx="11704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B4232A"/>
                </a:solidFill>
                <a:latin typeface="Calibri"/>
              </a:rPr>
              <a:t>NOT STARTED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1956816"/>
            <a:ext cx="11183112" cy="6131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1956816"/>
            <a:ext cx="50800" cy="613156"/>
          </a:xfrm>
          <a:prstGeom prst="rect">
            <a:avLst/>
          </a:prstGeom>
          <a:solidFill>
            <a:srgbClr val="B4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8368" y="2066544"/>
            <a:ext cx="932688" cy="256032"/>
          </a:xfrm>
          <a:prstGeom prst="round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2066544"/>
            <a:ext cx="93268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F6FEB"/>
                </a:solidFill>
                <a:latin typeface="Calibri"/>
              </a:rPr>
              <a:t>IQE-042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2029968"/>
            <a:ext cx="7498079" cy="575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A1D21"/>
                </a:solidFill>
                <a:latin typeface="Calibri"/>
              </a:rPr>
              <a:t>iFrame-embedded Content  —  </a:t>
            </a:r>
            <a:r>
              <a:rPr sz="1150" b="0" i="0">
                <a:solidFill>
                  <a:srgbClr val="5C6470"/>
                </a:solidFill>
                <a:latin typeface="Calibri"/>
              </a:rPr>
              <a:t>Cross-origin iFrames, embedded payment processors, legacy shells.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69880" y="2066544"/>
            <a:ext cx="1170432" cy="256032"/>
          </a:xfrm>
          <a:prstGeom prst="roundRect">
            <a:avLst/>
          </a:prstGeom>
          <a:solidFill>
            <a:srgbClr val="FD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69880" y="2066544"/>
            <a:ext cx="11704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B4232A"/>
                </a:solidFill>
                <a:latin typeface="Calibri"/>
              </a:rPr>
              <a:t>NOT STARTED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2633472"/>
            <a:ext cx="11183112" cy="6131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2633472"/>
            <a:ext cx="50800" cy="613156"/>
          </a:xfrm>
          <a:prstGeom prst="rect">
            <a:avLst/>
          </a:prstGeom>
          <a:solidFill>
            <a:srgbClr val="B4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8368" y="2743200"/>
            <a:ext cx="932688" cy="256032"/>
          </a:xfrm>
          <a:prstGeom prst="round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2743200"/>
            <a:ext cx="93268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F6FEB"/>
                </a:solidFill>
                <a:latin typeface="Calibri"/>
              </a:rPr>
              <a:t>IQE-043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83080" y="2706624"/>
            <a:ext cx="7498079" cy="575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A1D21"/>
                </a:solidFill>
                <a:latin typeface="Calibri"/>
              </a:rPr>
              <a:t>Hybrid DOM + Canvas (DOM layer)  —  </a:t>
            </a:r>
            <a:r>
              <a:rPr sz="1150" b="0" i="0">
                <a:solidFill>
                  <a:srgbClr val="5C6470"/>
                </a:solidFill>
                <a:latin typeface="Calibri"/>
              </a:rPr>
              <a:t>Test the DOM shell of canvas apps; canvas pixels scoped to MVP3.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469880" y="2743200"/>
            <a:ext cx="1170432" cy="256032"/>
          </a:xfrm>
          <a:prstGeom prst="roundRect">
            <a:avLst/>
          </a:prstGeom>
          <a:solidFill>
            <a:srgbClr val="FD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69880" y="2743200"/>
            <a:ext cx="11704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B4232A"/>
                </a:solidFill>
                <a:latin typeface="Calibri"/>
              </a:rPr>
              <a:t>NOT STARTED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3310128"/>
            <a:ext cx="11183112" cy="6131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3310128"/>
            <a:ext cx="50800" cy="613156"/>
          </a:xfrm>
          <a:prstGeom prst="rect">
            <a:avLst/>
          </a:prstGeom>
          <a:solidFill>
            <a:srgbClr val="1A7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58368" y="3419856"/>
            <a:ext cx="932688" cy="256032"/>
          </a:xfrm>
          <a:prstGeom prst="round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3419856"/>
            <a:ext cx="93268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F6FEB"/>
                </a:solidFill>
                <a:latin typeface="Calibri"/>
              </a:rPr>
              <a:t>IQE-044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83080" y="3383280"/>
            <a:ext cx="7498079" cy="575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A1D21"/>
                </a:solidFill>
                <a:latin typeface="Calibri"/>
              </a:rPr>
              <a:t>REST API — Full Suite (OpenAPI)  —  </a:t>
            </a:r>
            <a:r>
              <a:rPr sz="1150" b="0" i="0">
                <a:solidFill>
                  <a:srgbClr val="5C6470"/>
                </a:solidFill>
                <a:latin typeface="Calibri"/>
              </a:rPr>
              <a:t>Generation from spec; OAuth2 / JWT / API-key auth; service-layer assertions.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469880" y="3419856"/>
            <a:ext cx="1170432" cy="256032"/>
          </a:xfrm>
          <a:prstGeom prst="roundRect">
            <a:avLst/>
          </a:prstGeom>
          <a:solidFill>
            <a:srgbClr val="E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469880" y="3419856"/>
            <a:ext cx="11704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A7F52"/>
                </a:solidFill>
                <a:latin typeface="Calibri"/>
              </a:rPr>
              <a:t>DONE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3986784"/>
            <a:ext cx="11183112" cy="6131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2920" y="3986784"/>
            <a:ext cx="50800" cy="613156"/>
          </a:xfrm>
          <a:prstGeom prst="rect">
            <a:avLst/>
          </a:prstGeom>
          <a:solidFill>
            <a:srgbClr val="B56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58368" y="4096512"/>
            <a:ext cx="932688" cy="256032"/>
          </a:xfrm>
          <a:prstGeom prst="round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" y="4096512"/>
            <a:ext cx="93268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F6FEB"/>
                </a:solidFill>
                <a:latin typeface="Calibri"/>
              </a:rPr>
              <a:t>IQE-045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83080" y="4059936"/>
            <a:ext cx="7498079" cy="575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A1D21"/>
                </a:solidFill>
                <a:latin typeface="Calibri"/>
              </a:rPr>
              <a:t>GraphQL Testing  —  </a:t>
            </a:r>
            <a:r>
              <a:rPr sz="1150" b="0" i="0">
                <a:solidFill>
                  <a:srgbClr val="5C6470"/>
                </a:solidFill>
                <a:latin typeface="Calibri"/>
              </a:rPr>
              <a:t>Generation from SDL / introspection; query &amp; mutation validation.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469880" y="4096512"/>
            <a:ext cx="1170432" cy="256032"/>
          </a:xfrm>
          <a:prstGeom prst="roundRect">
            <a:avLst/>
          </a:prstGeom>
          <a:solidFill>
            <a:srgbClr val="FFF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469880" y="4096512"/>
            <a:ext cx="11704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B5631A"/>
                </a:solidFill>
                <a:latin typeface="Calibri"/>
              </a:rPr>
              <a:t>PARTIAL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2920" y="4663440"/>
            <a:ext cx="11183112" cy="6131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" y="4663440"/>
            <a:ext cx="50800" cy="613156"/>
          </a:xfrm>
          <a:prstGeom prst="rect">
            <a:avLst/>
          </a:prstGeom>
          <a:solidFill>
            <a:srgbClr val="1A7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58368" y="4773168"/>
            <a:ext cx="932688" cy="256032"/>
          </a:xfrm>
          <a:prstGeom prst="round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" y="4773168"/>
            <a:ext cx="93268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F6FEB"/>
                </a:solidFill>
                <a:latin typeface="Calibri"/>
              </a:rPr>
              <a:t>IQE-046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783080" y="4736592"/>
            <a:ext cx="7498079" cy="575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A1D21"/>
                </a:solidFill>
                <a:latin typeface="Calibri"/>
              </a:rPr>
              <a:t>Contract &amp; Schema Validation  —  </a:t>
            </a:r>
            <a:r>
              <a:rPr sz="1150" b="0" i="0">
                <a:solidFill>
                  <a:srgbClr val="5C6470"/>
                </a:solidFill>
                <a:latin typeface="Calibri"/>
              </a:rPr>
              <a:t>Schema-drift detection, consumer-driven contracts, breaking-change flags.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469880" y="4773168"/>
            <a:ext cx="1170432" cy="256032"/>
          </a:xfrm>
          <a:prstGeom prst="roundRect">
            <a:avLst/>
          </a:prstGeom>
          <a:solidFill>
            <a:srgbClr val="E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469880" y="4773168"/>
            <a:ext cx="11704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A7F52"/>
                </a:solidFill>
                <a:latin typeface="Calibri"/>
              </a:rPr>
              <a:t>DONE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20" y="5340096"/>
            <a:ext cx="11183112" cy="6131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02920" y="5340096"/>
            <a:ext cx="50800" cy="613156"/>
          </a:xfrm>
          <a:prstGeom prst="rect">
            <a:avLst/>
          </a:prstGeom>
          <a:solidFill>
            <a:srgbClr val="1A7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58368" y="5449824"/>
            <a:ext cx="932688" cy="256032"/>
          </a:xfrm>
          <a:prstGeom prst="round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8368" y="5449824"/>
            <a:ext cx="93268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F6FEB"/>
                </a:solidFill>
                <a:latin typeface="Calibri"/>
              </a:rPr>
              <a:t>IQE-047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783080" y="5413248"/>
            <a:ext cx="7498079" cy="575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A1D21"/>
                </a:solidFill>
                <a:latin typeface="Calibri"/>
              </a:rPr>
              <a:t>Mock Server (WireMock/Prism)  —  </a:t>
            </a:r>
            <a:r>
              <a:rPr sz="1150" b="0" i="0">
                <a:solidFill>
                  <a:srgbClr val="5C6470"/>
                </a:solidFill>
                <a:latin typeface="Calibri"/>
              </a:rPr>
              <a:t>Stub upstream dependencies for isolated API testing.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469880" y="5449824"/>
            <a:ext cx="1170432" cy="256032"/>
          </a:xfrm>
          <a:prstGeom prst="roundRect">
            <a:avLst/>
          </a:prstGeom>
          <a:solidFill>
            <a:srgbClr val="E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469880" y="5449824"/>
            <a:ext cx="11704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A7F52"/>
                </a:solidFill>
                <a:latin typeface="Calibri"/>
              </a:rPr>
              <a:t>DONE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430000" y="643737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8A929E"/>
                </a:solidFill>
                <a:latin typeface="Calibri"/>
              </a:rPr>
              <a:t>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8A929E"/>
                </a:solidFill>
                <a:latin typeface="Calibri"/>
              </a:rPr>
              <a:t>IntelliQE — MVP 2 Feature List  ·  Scale &amp; Enterprise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04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63500" cy="4389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 spc="140">
                <a:solidFill>
                  <a:srgbClr val="1F6FEB"/>
                </a:solidFill>
                <a:latin typeface="Calibri"/>
              </a:rPr>
              <a:t>FEATURE 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75488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1A1D21"/>
                </a:solidFill>
                <a:latin typeface="Calibri"/>
              </a:rPr>
              <a:t>Layer 5 · Integrations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365760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8A929E"/>
                </a:solidFill>
                <a:latin typeface="Calibri"/>
              </a:rPr>
              <a:t>7 features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80160"/>
            <a:ext cx="11183112" cy="6131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280160"/>
            <a:ext cx="50800" cy="613156"/>
          </a:xfrm>
          <a:prstGeom prst="rect">
            <a:avLst/>
          </a:prstGeom>
          <a:solidFill>
            <a:srgbClr val="1A7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389888"/>
            <a:ext cx="932688" cy="256032"/>
          </a:xfrm>
          <a:prstGeom prst="round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89888"/>
            <a:ext cx="93268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F6FEB"/>
                </a:solidFill>
                <a:latin typeface="Calibri"/>
              </a:rPr>
              <a:t>IQE-048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1353312"/>
            <a:ext cx="7498079" cy="575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A1D21"/>
                </a:solidFill>
                <a:latin typeface="Calibri"/>
              </a:rPr>
              <a:t>TestRail Direct API Sync  —  </a:t>
            </a:r>
            <a:r>
              <a:rPr sz="1150" b="0" i="0">
                <a:solidFill>
                  <a:srgbClr val="5C6470"/>
                </a:solidFill>
                <a:latin typeface="Calibri"/>
              </a:rPr>
              <a:t>Bidirectional real-time case &amp; result sync; replaces CSV export.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469880" y="1389888"/>
            <a:ext cx="1170432" cy="256032"/>
          </a:xfrm>
          <a:prstGeom prst="roundRect">
            <a:avLst/>
          </a:prstGeom>
          <a:solidFill>
            <a:srgbClr val="E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69880" y="1389888"/>
            <a:ext cx="11704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A7F52"/>
                </a:solidFill>
                <a:latin typeface="Calibri"/>
              </a:rPr>
              <a:t>DONE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1956816"/>
            <a:ext cx="11183112" cy="6131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1956816"/>
            <a:ext cx="50800" cy="613156"/>
          </a:xfrm>
          <a:prstGeom prst="rect">
            <a:avLst/>
          </a:prstGeom>
          <a:solidFill>
            <a:srgbClr val="1A7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8368" y="2066544"/>
            <a:ext cx="932688" cy="256032"/>
          </a:xfrm>
          <a:prstGeom prst="round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2066544"/>
            <a:ext cx="93268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F6FEB"/>
                </a:solidFill>
                <a:latin typeface="Calibri"/>
              </a:rPr>
              <a:t>IQE-049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2029968"/>
            <a:ext cx="7498079" cy="575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A1D21"/>
                </a:solidFill>
                <a:latin typeface="Calibri"/>
              </a:rPr>
              <a:t>GitLab CI Integration  —  </a:t>
            </a:r>
            <a:r>
              <a:rPr sz="1150" b="0" i="0">
                <a:solidFill>
                  <a:srgbClr val="5C6470"/>
                </a:solidFill>
                <a:latin typeface="Calibri"/>
              </a:rPr>
              <a:t>GitLab CI pipeline triggers and receives IntelliQE results.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69880" y="2066544"/>
            <a:ext cx="1170432" cy="256032"/>
          </a:xfrm>
          <a:prstGeom prst="roundRect">
            <a:avLst/>
          </a:prstGeom>
          <a:solidFill>
            <a:srgbClr val="E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69880" y="2066544"/>
            <a:ext cx="11704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A7F52"/>
                </a:solidFill>
                <a:latin typeface="Calibri"/>
              </a:rPr>
              <a:t>DONE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2633472"/>
            <a:ext cx="11183112" cy="6131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2633472"/>
            <a:ext cx="50800" cy="613156"/>
          </a:xfrm>
          <a:prstGeom prst="rect">
            <a:avLst/>
          </a:prstGeom>
          <a:solidFill>
            <a:srgbClr val="B56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8368" y="2743200"/>
            <a:ext cx="932688" cy="256032"/>
          </a:xfrm>
          <a:prstGeom prst="round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2743200"/>
            <a:ext cx="93268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F6FEB"/>
                </a:solidFill>
                <a:latin typeface="Calibri"/>
              </a:rPr>
              <a:t>IQE-050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83080" y="2706624"/>
            <a:ext cx="7498079" cy="575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A1D21"/>
                </a:solidFill>
                <a:latin typeface="Calibri"/>
              </a:rPr>
              <a:t>Azure DevOps Pipelines  —  </a:t>
            </a:r>
            <a:r>
              <a:rPr sz="1150" b="0" i="0">
                <a:solidFill>
                  <a:srgbClr val="5C6470"/>
                </a:solidFill>
                <a:latin typeface="Calibri"/>
              </a:rPr>
              <a:t>ADO pipeline triggers IntelliQE; results returned to the pipeline.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469880" y="2743200"/>
            <a:ext cx="1170432" cy="256032"/>
          </a:xfrm>
          <a:prstGeom prst="roundRect">
            <a:avLst/>
          </a:prstGeom>
          <a:solidFill>
            <a:srgbClr val="FFF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69880" y="2743200"/>
            <a:ext cx="11704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B5631A"/>
                </a:solidFill>
                <a:latin typeface="Calibri"/>
              </a:rPr>
              <a:t>PARTIAL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3310128"/>
            <a:ext cx="11183112" cy="6131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3310128"/>
            <a:ext cx="50800" cy="613156"/>
          </a:xfrm>
          <a:prstGeom prst="rect">
            <a:avLst/>
          </a:prstGeom>
          <a:solidFill>
            <a:srgbClr val="1A7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58368" y="3419856"/>
            <a:ext cx="932688" cy="256032"/>
          </a:xfrm>
          <a:prstGeom prst="round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3419856"/>
            <a:ext cx="93268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F6FEB"/>
                </a:solidFill>
                <a:latin typeface="Calibri"/>
              </a:rPr>
              <a:t>IQE-051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83080" y="3383280"/>
            <a:ext cx="7498079" cy="575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A1D21"/>
                </a:solidFill>
                <a:latin typeface="Calibri"/>
              </a:rPr>
              <a:t>GitLab Code Push  —  </a:t>
            </a:r>
            <a:r>
              <a:rPr sz="1150" b="0" i="0">
                <a:solidFill>
                  <a:srgbClr val="5C6470"/>
                </a:solidFill>
                <a:latin typeface="Calibri"/>
              </a:rPr>
              <a:t>Generated test scripts pushed to the GitLab repo.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469880" y="3419856"/>
            <a:ext cx="1170432" cy="256032"/>
          </a:xfrm>
          <a:prstGeom prst="roundRect">
            <a:avLst/>
          </a:prstGeom>
          <a:solidFill>
            <a:srgbClr val="E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469880" y="3419856"/>
            <a:ext cx="11704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A7F52"/>
                </a:solidFill>
                <a:latin typeface="Calibri"/>
              </a:rPr>
              <a:t>DONE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3986784"/>
            <a:ext cx="11183112" cy="6131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2920" y="3986784"/>
            <a:ext cx="50800" cy="613156"/>
          </a:xfrm>
          <a:prstGeom prst="rect">
            <a:avLst/>
          </a:prstGeom>
          <a:solidFill>
            <a:srgbClr val="B4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58368" y="4096512"/>
            <a:ext cx="932688" cy="256032"/>
          </a:xfrm>
          <a:prstGeom prst="round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" y="4096512"/>
            <a:ext cx="93268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F6FEB"/>
                </a:solidFill>
                <a:latin typeface="Calibri"/>
              </a:rPr>
              <a:t>IQE-052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83080" y="4059936"/>
            <a:ext cx="7498079" cy="575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A1D21"/>
                </a:solidFill>
                <a:latin typeface="Calibri"/>
              </a:rPr>
              <a:t>ADO Repos Code Push  —  </a:t>
            </a:r>
            <a:r>
              <a:rPr sz="1150" b="0" i="0">
                <a:solidFill>
                  <a:srgbClr val="5C6470"/>
                </a:solidFill>
                <a:latin typeface="Calibri"/>
              </a:rPr>
              <a:t>Push code &amp; artifacts to Azure DevOps repos.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469880" y="4096512"/>
            <a:ext cx="1170432" cy="256032"/>
          </a:xfrm>
          <a:prstGeom prst="roundRect">
            <a:avLst/>
          </a:prstGeom>
          <a:solidFill>
            <a:srgbClr val="FD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469880" y="4096512"/>
            <a:ext cx="11704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B4232A"/>
                </a:solidFill>
                <a:latin typeface="Calibri"/>
              </a:rPr>
              <a:t>NOT STARTED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2920" y="4663440"/>
            <a:ext cx="11183112" cy="6131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" y="4663440"/>
            <a:ext cx="50800" cy="613156"/>
          </a:xfrm>
          <a:prstGeom prst="rect">
            <a:avLst/>
          </a:prstGeom>
          <a:solidFill>
            <a:srgbClr val="1A7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58368" y="4773168"/>
            <a:ext cx="932688" cy="256032"/>
          </a:xfrm>
          <a:prstGeom prst="round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" y="4773168"/>
            <a:ext cx="93268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F6FEB"/>
                </a:solidFill>
                <a:latin typeface="Calibri"/>
              </a:rPr>
              <a:t>IQE-053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783080" y="4736592"/>
            <a:ext cx="7498079" cy="575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A1D21"/>
                </a:solidFill>
                <a:latin typeface="Calibri"/>
              </a:rPr>
              <a:t>Slack Notifications  —  </a:t>
            </a:r>
            <a:r>
              <a:rPr sz="1150" b="0" i="0">
                <a:solidFill>
                  <a:srgbClr val="5C6470"/>
                </a:solidFill>
                <a:latin typeface="Calibri"/>
              </a:rPr>
              <a:t>Test results &amp; critical failures posted to a Slack channel.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469880" y="4773168"/>
            <a:ext cx="1170432" cy="256032"/>
          </a:xfrm>
          <a:prstGeom prst="roundRect">
            <a:avLst/>
          </a:prstGeom>
          <a:solidFill>
            <a:srgbClr val="E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469880" y="4773168"/>
            <a:ext cx="11704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A7F52"/>
                </a:solidFill>
                <a:latin typeface="Calibri"/>
              </a:rPr>
              <a:t>DONE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20" y="5340096"/>
            <a:ext cx="11183112" cy="6131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02920" y="5340096"/>
            <a:ext cx="50800" cy="613156"/>
          </a:xfrm>
          <a:prstGeom prst="rect">
            <a:avLst/>
          </a:prstGeom>
          <a:solidFill>
            <a:srgbClr val="1A7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58368" y="5449824"/>
            <a:ext cx="932688" cy="256032"/>
          </a:xfrm>
          <a:prstGeom prst="round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8368" y="5449824"/>
            <a:ext cx="93268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F6FEB"/>
                </a:solidFill>
                <a:latin typeface="Calibri"/>
              </a:rPr>
              <a:t>IQE-054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783080" y="5413248"/>
            <a:ext cx="7498079" cy="575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A1D21"/>
                </a:solidFill>
                <a:latin typeface="Calibri"/>
              </a:rPr>
              <a:t>Microsoft Teams Notifications  —  </a:t>
            </a:r>
            <a:r>
              <a:rPr sz="1150" b="0" i="0">
                <a:solidFill>
                  <a:srgbClr val="5C6470"/>
                </a:solidFill>
                <a:latin typeface="Calibri"/>
              </a:rPr>
              <a:t>Execution results posted to a Teams channel.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469880" y="5449824"/>
            <a:ext cx="1170432" cy="256032"/>
          </a:xfrm>
          <a:prstGeom prst="roundRect">
            <a:avLst/>
          </a:prstGeom>
          <a:solidFill>
            <a:srgbClr val="E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469880" y="5449824"/>
            <a:ext cx="11704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A7F52"/>
                </a:solidFill>
                <a:latin typeface="Calibri"/>
              </a:rPr>
              <a:t>DONE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430000" y="643737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8A929E"/>
                </a:solidFill>
                <a:latin typeface="Calibri"/>
              </a:rP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8A929E"/>
                </a:solidFill>
                <a:latin typeface="Calibri"/>
              </a:rPr>
              <a:t>IntelliQE — MVP 2 Feature List  ·  Scale &amp; Enterprise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04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63500" cy="4389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 spc="140">
                <a:solidFill>
                  <a:srgbClr val="1F6FEB"/>
                </a:solidFill>
                <a:latin typeface="Calibri"/>
              </a:rPr>
              <a:t>FEATURE 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75488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1A1D21"/>
                </a:solidFill>
                <a:latin typeface="Calibri"/>
              </a:rPr>
              <a:t>Layer 6 · 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365760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8A929E"/>
                </a:solidFill>
                <a:latin typeface="Calibri"/>
              </a:rPr>
              <a:t>8 features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80160"/>
            <a:ext cx="11183112" cy="5651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280160"/>
            <a:ext cx="50800" cy="565150"/>
          </a:xfrm>
          <a:prstGeom prst="rect">
            <a:avLst/>
          </a:prstGeom>
          <a:solidFill>
            <a:srgbClr val="B56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389888"/>
            <a:ext cx="932688" cy="256032"/>
          </a:xfrm>
          <a:prstGeom prst="round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89888"/>
            <a:ext cx="93268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F6FEB"/>
                </a:solidFill>
                <a:latin typeface="Calibri"/>
              </a:rPr>
              <a:t>IQE-055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1353312"/>
            <a:ext cx="7498079" cy="527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A1D21"/>
                </a:solidFill>
                <a:latin typeface="Calibri"/>
              </a:rPr>
              <a:t>SSO / RBAC  —  </a:t>
            </a:r>
            <a:r>
              <a:rPr sz="1150" b="0" i="0">
                <a:solidFill>
                  <a:srgbClr val="5C6470"/>
                </a:solidFill>
                <a:latin typeface="Calibri"/>
              </a:rPr>
              <a:t>Enterprise SSO + role-based access control per user &amp; team.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469880" y="1389888"/>
            <a:ext cx="1170432" cy="256032"/>
          </a:xfrm>
          <a:prstGeom prst="roundRect">
            <a:avLst/>
          </a:prstGeom>
          <a:solidFill>
            <a:srgbClr val="FFF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69880" y="1389888"/>
            <a:ext cx="11704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B5631A"/>
                </a:solidFill>
                <a:latin typeface="Calibri"/>
              </a:rPr>
              <a:t>PARTIAL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1908810"/>
            <a:ext cx="11183112" cy="5651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1908810"/>
            <a:ext cx="50800" cy="565150"/>
          </a:xfrm>
          <a:prstGeom prst="rect">
            <a:avLst/>
          </a:prstGeom>
          <a:solidFill>
            <a:srgbClr val="B56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8368" y="2018538"/>
            <a:ext cx="932688" cy="256032"/>
          </a:xfrm>
          <a:prstGeom prst="round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2018538"/>
            <a:ext cx="93268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F6FEB"/>
                </a:solidFill>
                <a:latin typeface="Calibri"/>
              </a:rPr>
              <a:t>IQE-056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1981962"/>
            <a:ext cx="7498079" cy="527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A1D21"/>
                </a:solidFill>
                <a:latin typeface="Calibri"/>
              </a:rPr>
              <a:t>MFA &amp; Session Management  —  </a:t>
            </a:r>
            <a:r>
              <a:rPr sz="1150" b="0" i="0">
                <a:solidFill>
                  <a:srgbClr val="5C6470"/>
                </a:solidFill>
                <a:latin typeface="Calibri"/>
              </a:rPr>
              <a:t>Multi-factor auth; configurable session timeout.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69880" y="2018538"/>
            <a:ext cx="1170432" cy="256032"/>
          </a:xfrm>
          <a:prstGeom prst="roundRect">
            <a:avLst/>
          </a:prstGeom>
          <a:solidFill>
            <a:srgbClr val="FFF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69880" y="2018538"/>
            <a:ext cx="11704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B5631A"/>
                </a:solidFill>
                <a:latin typeface="Calibri"/>
              </a:rPr>
              <a:t>PARTIAL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2537460"/>
            <a:ext cx="11183112" cy="5651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2537460"/>
            <a:ext cx="50800" cy="565150"/>
          </a:xfrm>
          <a:prstGeom prst="rect">
            <a:avLst/>
          </a:prstGeom>
          <a:solidFill>
            <a:srgbClr val="B56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8368" y="2647188"/>
            <a:ext cx="932688" cy="256032"/>
          </a:xfrm>
          <a:prstGeom prst="round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2647188"/>
            <a:ext cx="93268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F6FEB"/>
                </a:solidFill>
                <a:latin typeface="Calibri"/>
              </a:rPr>
              <a:t>IQE-057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83080" y="2610612"/>
            <a:ext cx="7498079" cy="527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A1D21"/>
                </a:solidFill>
                <a:latin typeface="Calibri"/>
              </a:rPr>
              <a:t>Secret Vault Integration  —  </a:t>
            </a:r>
            <a:r>
              <a:rPr sz="1150" b="0" i="0">
                <a:solidFill>
                  <a:srgbClr val="5C6470"/>
                </a:solidFill>
                <a:latin typeface="Calibri"/>
              </a:rPr>
              <a:t>Azure Key Vault / HashiCorp — creds resolved at runtime, none stored.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469880" y="2647188"/>
            <a:ext cx="1170432" cy="256032"/>
          </a:xfrm>
          <a:prstGeom prst="roundRect">
            <a:avLst/>
          </a:prstGeom>
          <a:solidFill>
            <a:srgbClr val="FFF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69880" y="2647188"/>
            <a:ext cx="11704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B5631A"/>
                </a:solidFill>
                <a:latin typeface="Calibri"/>
              </a:rPr>
              <a:t>PARTIAL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3166110"/>
            <a:ext cx="11183112" cy="5651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3166110"/>
            <a:ext cx="50800" cy="565150"/>
          </a:xfrm>
          <a:prstGeom prst="rect">
            <a:avLst/>
          </a:prstGeom>
          <a:solidFill>
            <a:srgbClr val="B56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58368" y="3275838"/>
            <a:ext cx="932688" cy="256032"/>
          </a:xfrm>
          <a:prstGeom prst="round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3275838"/>
            <a:ext cx="93268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F6FEB"/>
                </a:solidFill>
                <a:latin typeface="Calibri"/>
              </a:rPr>
              <a:t>IQE-058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83080" y="3239262"/>
            <a:ext cx="7498079" cy="527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A1D21"/>
                </a:solidFill>
                <a:latin typeface="Calibri"/>
              </a:rPr>
              <a:t>Compliance Audit Log Viewer  —  </a:t>
            </a:r>
            <a:r>
              <a:rPr sz="1150" b="0" i="0">
                <a:solidFill>
                  <a:srgbClr val="5C6470"/>
                </a:solidFill>
                <a:latin typeface="Calibri"/>
              </a:rPr>
              <a:t>Queryable agent-action log; exportable for compliance review.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469880" y="3275838"/>
            <a:ext cx="1170432" cy="256032"/>
          </a:xfrm>
          <a:prstGeom prst="roundRect">
            <a:avLst/>
          </a:prstGeom>
          <a:solidFill>
            <a:srgbClr val="FFF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469880" y="3275838"/>
            <a:ext cx="11704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B5631A"/>
                </a:solidFill>
                <a:latin typeface="Calibri"/>
              </a:rPr>
              <a:t>PARTIAL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3794760"/>
            <a:ext cx="11183112" cy="5651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2920" y="3794760"/>
            <a:ext cx="50800" cy="565150"/>
          </a:xfrm>
          <a:prstGeom prst="rect">
            <a:avLst/>
          </a:prstGeom>
          <a:solidFill>
            <a:srgbClr val="B56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58368" y="3904488"/>
            <a:ext cx="932688" cy="256032"/>
          </a:xfrm>
          <a:prstGeom prst="round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" y="3904488"/>
            <a:ext cx="93268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F6FEB"/>
                </a:solidFill>
                <a:latin typeface="Calibri"/>
              </a:rPr>
              <a:t>IQE-059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83080" y="3867912"/>
            <a:ext cx="7498079" cy="527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A1D21"/>
                </a:solidFill>
                <a:latin typeface="Calibri"/>
              </a:rPr>
              <a:t>Data Retention &amp; Auto-Purge  —  </a:t>
            </a:r>
            <a:r>
              <a:rPr sz="1150" b="0" i="0">
                <a:solidFill>
                  <a:srgbClr val="5C6470"/>
                </a:solidFill>
                <a:latin typeface="Calibri"/>
              </a:rPr>
              <a:t>Per-tenant retention policy; auto-purge on expiry (90-day default).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469880" y="3904488"/>
            <a:ext cx="1170432" cy="256032"/>
          </a:xfrm>
          <a:prstGeom prst="roundRect">
            <a:avLst/>
          </a:prstGeom>
          <a:solidFill>
            <a:srgbClr val="FFF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469880" y="3904488"/>
            <a:ext cx="11704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B5631A"/>
                </a:solidFill>
                <a:latin typeface="Calibri"/>
              </a:rPr>
              <a:t>PARTIAL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2920" y="4423410"/>
            <a:ext cx="11183112" cy="5651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" y="4423410"/>
            <a:ext cx="50800" cy="565150"/>
          </a:xfrm>
          <a:prstGeom prst="rect">
            <a:avLst/>
          </a:prstGeom>
          <a:solidFill>
            <a:srgbClr val="B4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58368" y="4533138"/>
            <a:ext cx="932688" cy="256032"/>
          </a:xfrm>
          <a:prstGeom prst="round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" y="4533138"/>
            <a:ext cx="93268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F6FEB"/>
                </a:solidFill>
                <a:latin typeface="Calibri"/>
              </a:rPr>
              <a:t>IQE-060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783080" y="4496562"/>
            <a:ext cx="7498079" cy="527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A1D21"/>
                </a:solidFill>
                <a:latin typeface="Calibri"/>
              </a:rPr>
              <a:t>IP Allowlist / Blocklist  —  </a:t>
            </a:r>
            <a:r>
              <a:rPr sz="1150" b="0" i="0">
                <a:solidFill>
                  <a:srgbClr val="5C6470"/>
                </a:solidFill>
                <a:latin typeface="Calibri"/>
              </a:rPr>
              <a:t>Network-level access control — only approved IPs reach the instance.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469880" y="4533138"/>
            <a:ext cx="1170432" cy="256032"/>
          </a:xfrm>
          <a:prstGeom prst="roundRect">
            <a:avLst/>
          </a:prstGeom>
          <a:solidFill>
            <a:srgbClr val="FD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469880" y="4533138"/>
            <a:ext cx="11704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B4232A"/>
                </a:solidFill>
                <a:latin typeface="Calibri"/>
              </a:rPr>
              <a:t>NOT STARTED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20" y="5052060"/>
            <a:ext cx="11183112" cy="5651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02920" y="5052060"/>
            <a:ext cx="50800" cy="565150"/>
          </a:xfrm>
          <a:prstGeom prst="rect">
            <a:avLst/>
          </a:prstGeom>
          <a:solidFill>
            <a:srgbClr val="B56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58368" y="5161788"/>
            <a:ext cx="932688" cy="256032"/>
          </a:xfrm>
          <a:prstGeom prst="round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8368" y="5161788"/>
            <a:ext cx="93268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F6FEB"/>
                </a:solidFill>
                <a:latin typeface="Calibri"/>
              </a:rPr>
              <a:t>IQE-061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783080" y="5125212"/>
            <a:ext cx="7498079" cy="527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A1D21"/>
                </a:solidFill>
                <a:latin typeface="Calibri"/>
              </a:rPr>
              <a:t>Per-Tenant AI Budget Enforcement  —  </a:t>
            </a:r>
            <a:r>
              <a:rPr sz="1150" b="0" i="0">
                <a:solidFill>
                  <a:srgbClr val="5C6470"/>
                </a:solidFill>
                <a:latin typeface="Calibri"/>
              </a:rPr>
              <a:t>Token consumption tracked &amp; capped per tenant; throttle on breach.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469880" y="5161788"/>
            <a:ext cx="1170432" cy="256032"/>
          </a:xfrm>
          <a:prstGeom prst="roundRect">
            <a:avLst/>
          </a:prstGeom>
          <a:solidFill>
            <a:srgbClr val="FFF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469880" y="5161788"/>
            <a:ext cx="11704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B5631A"/>
                </a:solidFill>
                <a:latin typeface="Calibri"/>
              </a:rPr>
              <a:t>PARTIAL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02920" y="5680710"/>
            <a:ext cx="11183112" cy="5651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02920" y="5680710"/>
            <a:ext cx="50800" cy="565150"/>
          </a:xfrm>
          <a:prstGeom prst="rect">
            <a:avLst/>
          </a:prstGeom>
          <a:solidFill>
            <a:srgbClr val="B4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658368" y="5790438"/>
            <a:ext cx="932688" cy="256032"/>
          </a:xfrm>
          <a:prstGeom prst="round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8368" y="5790438"/>
            <a:ext cx="93268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F6FEB"/>
                </a:solidFill>
                <a:latin typeface="Calibri"/>
              </a:rPr>
              <a:t>IQE-062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783080" y="5753862"/>
            <a:ext cx="7498079" cy="527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A1D21"/>
                </a:solidFill>
                <a:latin typeface="Calibri"/>
              </a:rPr>
              <a:t>Row-Level Database Security  —  </a:t>
            </a:r>
            <a:r>
              <a:rPr sz="1150" b="0" i="0">
                <a:solidFill>
                  <a:srgbClr val="5C6470"/>
                </a:solidFill>
                <a:latin typeface="Calibri"/>
              </a:rPr>
              <a:t>DB-enforced tenancy — no cross-tenant access at the database layer.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0469880" y="5790438"/>
            <a:ext cx="1170432" cy="256032"/>
          </a:xfrm>
          <a:prstGeom prst="roundRect">
            <a:avLst/>
          </a:prstGeom>
          <a:solidFill>
            <a:srgbClr val="FD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469880" y="5790438"/>
            <a:ext cx="11704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B4232A"/>
                </a:solidFill>
                <a:latin typeface="Calibri"/>
              </a:rPr>
              <a:t>NOT STARTED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430000" y="643737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8A929E"/>
                </a:solidFill>
                <a:latin typeface="Calibri"/>
              </a:rPr>
              <a:t>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8A929E"/>
                </a:solidFill>
                <a:latin typeface="Calibri"/>
              </a:rPr>
              <a:t>IntelliQE — MVP 2 Feature List  ·  Scale &amp; Enterprise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0480"/>
          </a:xfrm>
          <a:prstGeom prst="rect">
            <a:avLst/>
          </a:prstGeom>
          <a:solidFill>
            <a:srgbClr val="813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63500" cy="438912"/>
          </a:xfrm>
          <a:prstGeom prst="rect">
            <a:avLst/>
          </a:prstGeom>
          <a:solidFill>
            <a:srgbClr val="813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 spc="140">
                <a:solidFill>
                  <a:srgbClr val="8137D8"/>
                </a:solidFill>
                <a:latin typeface="Calibri"/>
              </a:rPr>
              <a:t>FEATURE 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75488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1A1D21"/>
                </a:solidFill>
                <a:latin typeface="Calibri"/>
              </a:rPr>
              <a:t>Layer 7–8 · AI/LLM ·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365760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8A929E"/>
                </a:solidFill>
                <a:latin typeface="Calibri"/>
              </a:rPr>
              <a:t>9 features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80160"/>
            <a:ext cx="11183112" cy="4953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280160"/>
            <a:ext cx="50800" cy="495300"/>
          </a:xfrm>
          <a:prstGeom prst="rect">
            <a:avLst/>
          </a:prstGeom>
          <a:solidFill>
            <a:srgbClr val="B56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389888"/>
            <a:ext cx="932688" cy="256032"/>
          </a:xfrm>
          <a:prstGeom prst="round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89888"/>
            <a:ext cx="93268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8137D8"/>
                </a:solidFill>
                <a:latin typeface="Calibri"/>
              </a:rPr>
              <a:t>IQE-063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1353312"/>
            <a:ext cx="749807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A1D21"/>
                </a:solidFill>
                <a:latin typeface="Calibri"/>
              </a:rPr>
              <a:t>Reasoning Effort Controls  —  </a:t>
            </a:r>
            <a:r>
              <a:rPr sz="1150" b="0" i="0">
                <a:solidFill>
                  <a:srgbClr val="5C6470"/>
                </a:solidFill>
                <a:latin typeface="Calibri"/>
              </a:rPr>
              <a:t>Per-stage LLM effort (high / medium / low).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469880" y="1389888"/>
            <a:ext cx="1170432" cy="256032"/>
          </a:xfrm>
          <a:prstGeom prst="roundRect">
            <a:avLst/>
          </a:prstGeom>
          <a:solidFill>
            <a:srgbClr val="FFF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69880" y="1389888"/>
            <a:ext cx="11704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B5631A"/>
                </a:solidFill>
                <a:latin typeface="Calibri"/>
              </a:rPr>
              <a:t>PARTIAL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1838960"/>
            <a:ext cx="11183112" cy="4953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1838960"/>
            <a:ext cx="50800" cy="495300"/>
          </a:xfrm>
          <a:prstGeom prst="rect">
            <a:avLst/>
          </a:prstGeom>
          <a:solidFill>
            <a:srgbClr val="B56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8368" y="1948688"/>
            <a:ext cx="932688" cy="256032"/>
          </a:xfrm>
          <a:prstGeom prst="round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1948688"/>
            <a:ext cx="93268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8137D8"/>
                </a:solidFill>
                <a:latin typeface="Calibri"/>
              </a:rPr>
              <a:t>IQE-064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1912112"/>
            <a:ext cx="749807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A1D21"/>
                </a:solidFill>
                <a:latin typeface="Calibri"/>
              </a:rPr>
              <a:t>Cost Attribution &amp; Token Monitoring  —  </a:t>
            </a:r>
            <a:r>
              <a:rPr sz="1150" b="0" i="0">
                <a:solidFill>
                  <a:srgbClr val="5C6470"/>
                </a:solidFill>
                <a:latin typeface="Calibri"/>
              </a:rPr>
              <a:t>Token usage attributed per run / agent / customer; exportable.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69880" y="1948688"/>
            <a:ext cx="1170432" cy="256032"/>
          </a:xfrm>
          <a:prstGeom prst="roundRect">
            <a:avLst/>
          </a:prstGeom>
          <a:solidFill>
            <a:srgbClr val="FFF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69880" y="1948688"/>
            <a:ext cx="11704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B5631A"/>
                </a:solidFill>
                <a:latin typeface="Calibri"/>
              </a:rPr>
              <a:t>PARTIAL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2397760"/>
            <a:ext cx="11183112" cy="4953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2397760"/>
            <a:ext cx="50800" cy="495300"/>
          </a:xfrm>
          <a:prstGeom prst="rect">
            <a:avLst/>
          </a:prstGeom>
          <a:solidFill>
            <a:srgbClr val="B56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8368" y="2507488"/>
            <a:ext cx="932688" cy="256032"/>
          </a:xfrm>
          <a:prstGeom prst="round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2507488"/>
            <a:ext cx="93268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8137D8"/>
                </a:solidFill>
                <a:latin typeface="Calibri"/>
              </a:rPr>
              <a:t>IQE-065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83080" y="2470912"/>
            <a:ext cx="749807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A1D21"/>
                </a:solidFill>
                <a:latin typeface="Calibri"/>
              </a:rPr>
              <a:t>Agent Performance Scoring  —  </a:t>
            </a:r>
            <a:r>
              <a:rPr sz="1150" b="0" i="0">
                <a:solidFill>
                  <a:srgbClr val="5C6470"/>
                </a:solidFill>
                <a:latin typeface="Calibri"/>
              </a:rPr>
              <a:t>Accuracy, heal-success, false-positive, cost efficiency per agent.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469880" y="2507488"/>
            <a:ext cx="1170432" cy="256032"/>
          </a:xfrm>
          <a:prstGeom prst="roundRect">
            <a:avLst/>
          </a:prstGeom>
          <a:solidFill>
            <a:srgbClr val="FFF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69880" y="2507488"/>
            <a:ext cx="11704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B5631A"/>
                </a:solidFill>
                <a:latin typeface="Calibri"/>
              </a:rPr>
              <a:t>PARTIAL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2956560"/>
            <a:ext cx="11183112" cy="4953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2956560"/>
            <a:ext cx="50800" cy="495300"/>
          </a:xfrm>
          <a:prstGeom prst="rect">
            <a:avLst/>
          </a:prstGeom>
          <a:solidFill>
            <a:srgbClr val="B56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58368" y="3066288"/>
            <a:ext cx="932688" cy="256032"/>
          </a:xfrm>
          <a:prstGeom prst="round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3066288"/>
            <a:ext cx="93268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8137D8"/>
                </a:solidFill>
                <a:latin typeface="Calibri"/>
              </a:rPr>
              <a:t>IQE-066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83080" y="3029712"/>
            <a:ext cx="749807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A1D21"/>
                </a:solidFill>
                <a:latin typeface="Calibri"/>
              </a:rPr>
              <a:t>Self-Healing Performance Metrics  —  </a:t>
            </a:r>
            <a:r>
              <a:rPr sz="1150" b="0" i="0">
                <a:solidFill>
                  <a:srgbClr val="5C6470"/>
                </a:solidFill>
                <a:latin typeface="Calibri"/>
              </a:rPr>
              <a:t>Heal success rate &amp; accuracy — data behind the 60% maintenance claim.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469880" y="3066288"/>
            <a:ext cx="1170432" cy="256032"/>
          </a:xfrm>
          <a:prstGeom prst="roundRect">
            <a:avLst/>
          </a:prstGeom>
          <a:solidFill>
            <a:srgbClr val="FFF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469880" y="3066288"/>
            <a:ext cx="11704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B5631A"/>
                </a:solidFill>
                <a:latin typeface="Calibri"/>
              </a:rPr>
              <a:t>PARTIAL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3515360"/>
            <a:ext cx="11183112" cy="4953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2920" y="3515360"/>
            <a:ext cx="50800" cy="495300"/>
          </a:xfrm>
          <a:prstGeom prst="rect">
            <a:avLst/>
          </a:prstGeom>
          <a:solidFill>
            <a:srgbClr val="B56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58368" y="3625088"/>
            <a:ext cx="932688" cy="256032"/>
          </a:xfrm>
          <a:prstGeom prst="round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" y="3625088"/>
            <a:ext cx="93268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8137D8"/>
                </a:solidFill>
                <a:latin typeface="Calibri"/>
              </a:rPr>
              <a:t>IQE-067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83080" y="3588512"/>
            <a:ext cx="749807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A1D21"/>
                </a:solidFill>
                <a:latin typeface="Calibri"/>
              </a:rPr>
              <a:t>Coverage Trend Dashboards  —  </a:t>
            </a:r>
            <a:r>
              <a:rPr sz="1150" b="0" i="0">
                <a:solidFill>
                  <a:srgbClr val="5C6470"/>
                </a:solidFill>
                <a:latin typeface="Calibri"/>
              </a:rPr>
              <a:t>Coverage trend per sprint / release; TestRail traceability.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469880" y="3625088"/>
            <a:ext cx="1170432" cy="256032"/>
          </a:xfrm>
          <a:prstGeom prst="roundRect">
            <a:avLst/>
          </a:prstGeom>
          <a:solidFill>
            <a:srgbClr val="FFF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469880" y="3625088"/>
            <a:ext cx="11704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B5631A"/>
                </a:solidFill>
                <a:latin typeface="Calibri"/>
              </a:rPr>
              <a:t>PARTIAL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2920" y="4074160"/>
            <a:ext cx="11183112" cy="4953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" y="4074160"/>
            <a:ext cx="50800" cy="495300"/>
          </a:xfrm>
          <a:prstGeom prst="rect">
            <a:avLst/>
          </a:prstGeom>
          <a:solidFill>
            <a:srgbClr val="B56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58368" y="4183888"/>
            <a:ext cx="932688" cy="256032"/>
          </a:xfrm>
          <a:prstGeom prst="round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" y="4183888"/>
            <a:ext cx="93268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8137D8"/>
                </a:solidFill>
                <a:latin typeface="Calibri"/>
              </a:rPr>
              <a:t>IQE-068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783080" y="4147312"/>
            <a:ext cx="749807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A1D21"/>
                </a:solidFill>
                <a:latin typeface="Calibri"/>
              </a:rPr>
              <a:t>Flakiness Intelligence &amp; Auto-Quarantine  —  </a:t>
            </a:r>
            <a:r>
              <a:rPr sz="1150" b="0" i="0">
                <a:solidFill>
                  <a:srgbClr val="5C6470"/>
                </a:solidFill>
                <a:latin typeface="Calibri"/>
              </a:rPr>
              <a:t>Detect &amp; auto-quarantine flaky tests; flakiness tracked over time.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469880" y="4183888"/>
            <a:ext cx="1170432" cy="256032"/>
          </a:xfrm>
          <a:prstGeom prst="roundRect">
            <a:avLst/>
          </a:prstGeom>
          <a:solidFill>
            <a:srgbClr val="FFF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469880" y="4183888"/>
            <a:ext cx="11704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B5631A"/>
                </a:solidFill>
                <a:latin typeface="Calibri"/>
              </a:rPr>
              <a:t>PARTIAL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20" y="4632960"/>
            <a:ext cx="11183112" cy="4953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02920" y="4632960"/>
            <a:ext cx="50800" cy="495300"/>
          </a:xfrm>
          <a:prstGeom prst="rect">
            <a:avLst/>
          </a:prstGeom>
          <a:solidFill>
            <a:srgbClr val="B56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58368" y="4742688"/>
            <a:ext cx="932688" cy="256032"/>
          </a:xfrm>
          <a:prstGeom prst="round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8368" y="4742688"/>
            <a:ext cx="93268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8137D8"/>
                </a:solidFill>
                <a:latin typeface="Calibri"/>
              </a:rPr>
              <a:t>IQE-069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783080" y="4706112"/>
            <a:ext cx="749807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A1D21"/>
                </a:solidFill>
                <a:latin typeface="Calibri"/>
              </a:rPr>
              <a:t>AI Agent Analytics  —  </a:t>
            </a:r>
            <a:r>
              <a:rPr sz="1150" b="0" i="0">
                <a:solidFill>
                  <a:srgbClr val="5C6470"/>
                </a:solidFill>
                <a:latin typeface="Calibri"/>
              </a:rPr>
              <a:t>Tokens, accuracy &amp; cost efficiency per agent per run.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469880" y="4742688"/>
            <a:ext cx="1170432" cy="256032"/>
          </a:xfrm>
          <a:prstGeom prst="roundRect">
            <a:avLst/>
          </a:prstGeom>
          <a:solidFill>
            <a:srgbClr val="FFF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469880" y="4742688"/>
            <a:ext cx="11704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B5631A"/>
                </a:solidFill>
                <a:latin typeface="Calibri"/>
              </a:rPr>
              <a:t>PARTIAL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02920" y="5191760"/>
            <a:ext cx="11183112" cy="4953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02920" y="5191760"/>
            <a:ext cx="50800" cy="495300"/>
          </a:xfrm>
          <a:prstGeom prst="rect">
            <a:avLst/>
          </a:prstGeom>
          <a:solidFill>
            <a:srgbClr val="B56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658368" y="5301488"/>
            <a:ext cx="932688" cy="256032"/>
          </a:xfrm>
          <a:prstGeom prst="round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8368" y="5301488"/>
            <a:ext cx="93268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8137D8"/>
                </a:solidFill>
                <a:latin typeface="Calibri"/>
              </a:rPr>
              <a:t>IQE-070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783080" y="5264912"/>
            <a:ext cx="749807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A1D21"/>
                </a:solidFill>
                <a:latin typeface="Calibri"/>
              </a:rPr>
              <a:t>Scheduled Report Delivery  —  </a:t>
            </a:r>
            <a:r>
              <a:rPr sz="1150" b="0" i="0">
                <a:solidFill>
                  <a:srgbClr val="5C6470"/>
                </a:solidFill>
                <a:latin typeface="Calibri"/>
              </a:rPr>
              <a:t>Daily / weekly / triggered email report delivery.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0469880" y="5301488"/>
            <a:ext cx="1170432" cy="256032"/>
          </a:xfrm>
          <a:prstGeom prst="roundRect">
            <a:avLst/>
          </a:prstGeom>
          <a:solidFill>
            <a:srgbClr val="FFF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469880" y="5301488"/>
            <a:ext cx="11704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B5631A"/>
                </a:solidFill>
                <a:latin typeface="Calibri"/>
              </a:rPr>
              <a:t>PARTIAL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02920" y="5750560"/>
            <a:ext cx="11183112" cy="4953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02920" y="5750560"/>
            <a:ext cx="50800" cy="495300"/>
          </a:xfrm>
          <a:prstGeom prst="rect">
            <a:avLst/>
          </a:prstGeom>
          <a:solidFill>
            <a:srgbClr val="1A7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658368" y="5860288"/>
            <a:ext cx="932688" cy="256032"/>
          </a:xfrm>
          <a:prstGeom prst="round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58368" y="5860288"/>
            <a:ext cx="93268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8137D8"/>
                </a:solidFill>
                <a:latin typeface="Calibri"/>
              </a:rPr>
              <a:t>IQE-071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783080" y="5823712"/>
            <a:ext cx="749807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A1D21"/>
                </a:solidFill>
                <a:latin typeface="Calibri"/>
              </a:rPr>
              <a:t>Unified Web + API Reporting  —  </a:t>
            </a:r>
            <a:r>
              <a:rPr sz="1150" b="0" i="0">
                <a:solidFill>
                  <a:srgbClr val="5C6470"/>
                </a:solidFill>
                <a:latin typeface="Calibri"/>
              </a:rPr>
              <a:t>Single dashboard across all test types &amp; environments.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0469880" y="5860288"/>
            <a:ext cx="1170432" cy="256032"/>
          </a:xfrm>
          <a:prstGeom prst="roundRect">
            <a:avLst/>
          </a:prstGeom>
          <a:solidFill>
            <a:srgbClr val="E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469880" y="5860288"/>
            <a:ext cx="11704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A7F52"/>
                </a:solidFill>
                <a:latin typeface="Calibri"/>
              </a:rPr>
              <a:t>DONE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430000" y="643737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8A929E"/>
                </a:solidFill>
                <a:latin typeface="Calibri"/>
              </a:rPr>
              <a:t>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8A929E"/>
                </a:solidFill>
                <a:latin typeface="Calibri"/>
              </a:rPr>
              <a:t>IntelliQE — MVP 2 Feature List  ·  Scale &amp; Enterprise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30480"/>
          </a:xfrm>
          <a:prstGeom prst="rect">
            <a:avLst/>
          </a:prstGeom>
          <a:solidFill>
            <a:srgbClr val="813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92608"/>
            <a:ext cx="63500" cy="438912"/>
          </a:xfrm>
          <a:prstGeom prst="rect">
            <a:avLst/>
          </a:prstGeom>
          <a:solidFill>
            <a:srgbClr val="813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 spc="140">
                <a:solidFill>
                  <a:srgbClr val="8137D8"/>
                </a:solidFill>
                <a:latin typeface="Calibri"/>
              </a:rPr>
              <a:t>FEATURE 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75488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 i="0">
                <a:solidFill>
                  <a:srgbClr val="1A1D21"/>
                </a:solidFill>
                <a:latin typeface="Calibri"/>
              </a:rPr>
              <a:t>Layer 9 · Deployment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365760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8A929E"/>
                </a:solidFill>
                <a:latin typeface="Calibri"/>
              </a:rPr>
              <a:t>3 features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280160"/>
            <a:ext cx="11183112" cy="6131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280160"/>
            <a:ext cx="50800" cy="613156"/>
          </a:xfrm>
          <a:prstGeom prst="rect">
            <a:avLst/>
          </a:prstGeom>
          <a:solidFill>
            <a:srgbClr val="B4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389888"/>
            <a:ext cx="932688" cy="256032"/>
          </a:xfrm>
          <a:prstGeom prst="round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89888"/>
            <a:ext cx="93268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8137D8"/>
                </a:solidFill>
                <a:latin typeface="Calibri"/>
              </a:rPr>
              <a:t>IQE-072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1353312"/>
            <a:ext cx="7498079" cy="575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A1D21"/>
                </a:solidFill>
                <a:latin typeface="Calibri"/>
              </a:rPr>
              <a:t>GCP Deployment  —  </a:t>
            </a:r>
            <a:r>
              <a:rPr sz="1150" b="0" i="0">
                <a:solidFill>
                  <a:srgbClr val="5C6470"/>
                </a:solidFill>
                <a:latin typeface="Calibri"/>
              </a:rPr>
              <a:t>Google Cloud / GKE container deployment (NRG, CenterPoint stacks).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469880" y="1389888"/>
            <a:ext cx="1170432" cy="256032"/>
          </a:xfrm>
          <a:prstGeom prst="roundRect">
            <a:avLst/>
          </a:prstGeom>
          <a:solidFill>
            <a:srgbClr val="FD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69880" y="1389888"/>
            <a:ext cx="11704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B4232A"/>
                </a:solidFill>
                <a:latin typeface="Calibri"/>
              </a:rPr>
              <a:t>NOT STARTED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1956816"/>
            <a:ext cx="11183112" cy="6131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1956816"/>
            <a:ext cx="50800" cy="613156"/>
          </a:xfrm>
          <a:prstGeom prst="rect">
            <a:avLst/>
          </a:prstGeom>
          <a:solidFill>
            <a:srgbClr val="B42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8368" y="2066544"/>
            <a:ext cx="932688" cy="256032"/>
          </a:xfrm>
          <a:prstGeom prst="round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2066544"/>
            <a:ext cx="93268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8137D8"/>
                </a:solidFill>
                <a:latin typeface="Calibri"/>
              </a:rPr>
              <a:t>IQE-073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2029968"/>
            <a:ext cx="7498079" cy="575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A1D21"/>
                </a:solidFill>
                <a:latin typeface="Calibri"/>
              </a:rPr>
              <a:t>VNet Complexity — Custom Config  —  </a:t>
            </a:r>
            <a:r>
              <a:rPr sz="1150" b="0" i="0">
                <a:solidFill>
                  <a:srgbClr val="5C6470"/>
                </a:solidFill>
                <a:latin typeface="Calibri"/>
              </a:rPr>
              <a:t>Non-standard segmentation / compliance; scoped &amp; priced post-assessment.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69880" y="2066544"/>
            <a:ext cx="1170432" cy="256032"/>
          </a:xfrm>
          <a:prstGeom prst="roundRect">
            <a:avLst/>
          </a:prstGeom>
          <a:solidFill>
            <a:srgbClr val="FD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69880" y="2066544"/>
            <a:ext cx="11704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B4232A"/>
                </a:solidFill>
                <a:latin typeface="Calibri"/>
              </a:rPr>
              <a:t>NOT STARTED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2633472"/>
            <a:ext cx="11183112" cy="6131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2633472"/>
            <a:ext cx="50800" cy="613156"/>
          </a:xfrm>
          <a:prstGeom prst="rect">
            <a:avLst/>
          </a:prstGeom>
          <a:solidFill>
            <a:srgbClr val="B56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8368" y="2743200"/>
            <a:ext cx="932688" cy="256032"/>
          </a:xfrm>
          <a:prstGeom prst="round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2743200"/>
            <a:ext cx="93268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8137D8"/>
                </a:solidFill>
                <a:latin typeface="Calibri"/>
              </a:rPr>
              <a:t>IQE-074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83080" y="2706624"/>
            <a:ext cx="7498079" cy="575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A1D21"/>
                </a:solidFill>
                <a:latin typeface="Calibri"/>
              </a:rPr>
              <a:t>Automated Tenant Onboarding  —  </a:t>
            </a:r>
            <a:r>
              <a:rPr sz="1150" b="0" i="0">
                <a:solidFill>
                  <a:srgbClr val="5C6470"/>
                </a:solidFill>
                <a:latin typeface="Calibri"/>
              </a:rPr>
              <a:t>Self-service provisioning for new workspaces; guided setup wizard.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469880" y="2743200"/>
            <a:ext cx="1170432" cy="256032"/>
          </a:xfrm>
          <a:prstGeom prst="roundRect">
            <a:avLst/>
          </a:prstGeom>
          <a:solidFill>
            <a:srgbClr val="FFF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69880" y="2743200"/>
            <a:ext cx="11704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B5631A"/>
                </a:solidFill>
                <a:latin typeface="Calibri"/>
              </a:rPr>
              <a:t>PARTIAL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0" y="643737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8A929E"/>
                </a:solidFill>
                <a:latin typeface="Calibri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8A929E"/>
                </a:solidFill>
                <a:latin typeface="Calibri"/>
              </a:rPr>
              <a:t>IntelliQE — MVP 2 Feature List  ·  Scale &amp; Enterprise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