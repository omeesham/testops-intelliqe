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A7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A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42</c:v>
                </c:pt>
                <c:pt idx="2">
                  <c:v>26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A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B39C"/>
              </a:solidFill>
              <a:effectLst/>
            </c:spPr>
          </c:dPt>
          <c:dPt>
            <c:idx val="1"/>
            <c:bubble3D val="0"/>
            <c:spPr>
              <a:solidFill>
                <a:srgbClr val="E08A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Automated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</c:v>
                </c:pt>
                <c:pt idx="1">
                  <c:v>31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A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Functional</c:v>
                  </c:pt>
                  <c:pt idx="1">
                    <c:v>Negative</c:v>
                  </c:pt>
                  <c:pt idx="2">
                    <c:v>E2E</c:v>
                  </c:pt>
                  <c:pt idx="3">
                    <c:v>Edge</c:v>
                  </c:pt>
                  <c:pt idx="4">
                    <c:v>Smoke</c:v>
                  </c:pt>
                  <c:pt idx="5">
                    <c:v>Security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13</c:v>
                </c:pt>
                <c:pt idx="2">
                  <c:v>6</c:v>
                </c:pt>
                <c:pt idx="3">
                  <c:v>6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A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plan for the IntelliQE product itself. 84 cases, 251 steps, 11 modules, 8 test types. Import-ready for TestRail and TestLink.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spans the chat wizard, the AI pipeline, delivery surfaces, administration and cross-cutting security. Healing (stage 6) is capped at 2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 cases / 251 steps. Priority: 11 critical, 42 high, 26 medium, 5 low. 53 automated, 31 manual. All follow the repo authoring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journey: sign in, pick a requirement source, generate cases, review/save, script, execute, heal (capped at 2), then report and publish. Modules F–K cover the surrounding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 A–E are the chat journey; F–K are the surrounding surfaces and cross-cutting concerns. Case counts shown per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Priority: 11 critical, 42 high, 26 medium, 5 low. Automation: 53 automated, 31 manual (manual reserved for integration/security paths that need live sandboxes).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 functional, 13 negative, 6 E2E, 6 edge, 3 smoke, 3 security. Negative/edge cases assert the product's honest-reporting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the authoring standard: Module/Sub-Module, Priority/Type/Automation, a per-step Expected Result, and a separate tagged Test Data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synchronized deliverables from one source. DoD gates on evidence, critical/high pass, security integrity, and clean TestRail/TestLink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3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0A7C8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PLAN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JBS IntelliQE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Test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Full-workflow coverage of the multi-tenant AI QA-automation platform — from authentication through the six-agent pipeline, execution, self-healing, reporting and git publishing.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8B39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92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test cases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48920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4892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489204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7506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4892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48920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7506B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4892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docs/test-case-authoring-standards.instructions.md  ·  TestRail / TestLink import-ready  ·  Plan v1.0  ·  2026-08-10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plan validates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 turns a plain-English feature into test cases, Playwright scripts, a real execution run, self-healed fixes and a report. This plan exercises every step of that product — not the apps it tests.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743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wizard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27432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requirement sources → generation → review → save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747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3474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planning · generation · scripting · execution · healing · audit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4206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git publish (PR/MR), bug tracking, notifications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377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49377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setup, integrations, LLM config, users, feature toggles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66928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692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56692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credential encryption, convergence guards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1234440"/>
            <a:ext cx="4937760" cy="5074920"/>
          </a:xfrm>
          <a:prstGeom prst="roundRect">
            <a:avLst>
              <a:gd name="adj" fmla="val 1852"/>
            </a:avLst>
          </a:prstGeom>
          <a:solidFill>
            <a:srgbClr val="0F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six-agent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03720" y="2057400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32320" y="2514600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633472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3090672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3209544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43800" y="3209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3666744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785616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43800" y="37856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32320" y="4242816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4361688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4380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32320" y="4818888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4380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32320" y="5394960"/>
            <a:ext cx="0" cy="118872"/>
          </a:xfrm>
          <a:prstGeom prst="line">
            <a:avLst/>
          </a:prstGeom>
          <a:noFill/>
          <a:ln w="25400">
            <a:solidFill>
              <a:srgbClr val="3A5A7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5513832"/>
            <a:ext cx="457200" cy="457200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543800" y="5513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4290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steps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9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21792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06840" y="160020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1783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A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00684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follows the TestRail Test Case (Steps) schema: Module / Sub-Module, a dedicated Test Data column with simulated &amp; generated values tagged, and an Expected Result for every single step.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8B39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87168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19" name="Text 17"/>
          <p:cNvSpPr/>
          <p:nvPr/>
        </p:nvSpPr>
        <p:spPr>
          <a:xfrm>
            <a:off x="2487168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42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4256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E9FD1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C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8432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8B39C"/>
          </a:solidFill>
          <a:ln/>
        </p:spPr>
      </p:sp>
      <p:sp>
        <p:nvSpPr>
          <p:cNvPr id="25" name="Text 23"/>
          <p:cNvSpPr/>
          <p:nvPr/>
        </p:nvSpPr>
        <p:spPr>
          <a:xfrm>
            <a:off x="8028432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53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5520" y="5212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0" y="5212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31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workflow under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A–E trace one continuous user journey through the Chat wizard; F–K validate the surfaces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384048" cy="384048"/>
          </a:xfrm>
          <a:prstGeom prst="ellipse">
            <a:avLst/>
          </a:prstGeom>
          <a:solidFill>
            <a:srgbClr val="0A7C8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27832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2130552"/>
            <a:ext cx="384048" cy="384048"/>
          </a:xfrm>
          <a:prstGeom prst="ellipse">
            <a:avLst/>
          </a:prstGeom>
          <a:solidFill>
            <a:srgbClr val="0A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78808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source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532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ADO · docs · explore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08192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130552"/>
            <a:ext cx="384048" cy="384048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59168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32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cases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88552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81160" y="19659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752" y="2130552"/>
            <a:ext cx="384048" cy="384048"/>
          </a:xfrm>
          <a:prstGeom prst="ellipse">
            <a:avLst/>
          </a:prstGeom>
          <a:solidFill>
            <a:srgbClr val="18B39C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39528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save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64040" y="2532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· export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096512"/>
            <a:ext cx="384048" cy="384048"/>
          </a:xfrm>
          <a:prstGeom prst="ellipse">
            <a:avLst/>
          </a:prstGeom>
          <a:solidFill>
            <a:srgbClr val="0A7C8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98448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specs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27832" y="39319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3520440" y="3931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85032" y="4096512"/>
            <a:ext cx="384048" cy="384048"/>
          </a:xfrm>
          <a:prstGeom prst="ellipse">
            <a:avLst/>
          </a:prstGeom>
          <a:solidFill>
            <a:srgbClr val="0A7C8A"/>
          </a:solidFill>
          <a:ln/>
        </p:spPr>
      </p:sp>
      <p:sp>
        <p:nvSpPr>
          <p:cNvPr id="35" name="Text 33"/>
          <p:cNvSpPr/>
          <p:nvPr/>
        </p:nvSpPr>
        <p:spPr>
          <a:xfrm>
            <a:off x="368503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78808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70332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· honest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08192" y="39319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6400800" y="3931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4096512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59168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8368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×2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88552" y="39319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9281160" y="39319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5752" y="4096512"/>
            <a:ext cx="384048" cy="38404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47" name="Text 45"/>
          <p:cNvSpPr/>
          <p:nvPr/>
        </p:nvSpPr>
        <p:spPr>
          <a:xfrm>
            <a:off x="944575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939528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publish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46404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PR/MR · bugs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by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0" y="621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· TC-001 – TC-084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636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563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453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20939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TC-001–010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1122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21122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5F9FB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15636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563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15453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Requirement Sources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66360" y="20939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TC-011–024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5160" y="21122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1122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5636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563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15453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Generation &amp; 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15400" y="20939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TC-025–034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744200" y="21122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44200" y="21122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7889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5F9FB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29352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17320" y="29169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Scripts · Execution · Healing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1732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TC-035–046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34838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483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cases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27889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29352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34" name="Text 32"/>
          <p:cNvSpPr/>
          <p:nvPr/>
        </p:nvSpPr>
        <p:spPr>
          <a:xfrm>
            <a:off x="4535424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166360" y="29169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Reporting &amp; Git Publish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6636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TC-047–052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95160" y="34838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3483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27889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5F9FB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84464" y="29352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41" name="Text 39"/>
          <p:cNvSpPr/>
          <p:nvPr/>
        </p:nvSpPr>
        <p:spPr>
          <a:xfrm>
            <a:off x="8284464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915400" y="29169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 Cases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15400" y="3465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TC-053–060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744200" y="34838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45" name="Text 43"/>
          <p:cNvSpPr/>
          <p:nvPr/>
        </p:nvSpPr>
        <p:spPr>
          <a:xfrm>
            <a:off x="10744200" y="3483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41605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" y="43068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417320" y="4288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417320" y="48371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TC-061–063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46120" y="48554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52" name="Text 50"/>
          <p:cNvSpPr/>
          <p:nvPr/>
        </p:nvSpPr>
        <p:spPr>
          <a:xfrm>
            <a:off x="3246120" y="4855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89120" y="41605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5F9FB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35424" y="43068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55" name="Text 53"/>
          <p:cNvSpPr/>
          <p:nvPr/>
        </p:nvSpPr>
        <p:spPr>
          <a:xfrm>
            <a:off x="4535424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166360" y="4288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Tracker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166360" y="48371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TC-064–070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95160" y="48554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59" name="Text 57"/>
          <p:cNvSpPr/>
          <p:nvPr/>
        </p:nvSpPr>
        <p:spPr>
          <a:xfrm>
            <a:off x="6995160" y="4855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cases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38160" y="41605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84464" y="43068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2" name="Text 60"/>
          <p:cNvSpPr/>
          <p:nvPr/>
        </p:nvSpPr>
        <p:spPr>
          <a:xfrm>
            <a:off x="8284464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915400" y="4288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915400" y="48371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TC-071–078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744200" y="48554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66" name="Text 64"/>
          <p:cNvSpPr/>
          <p:nvPr/>
        </p:nvSpPr>
        <p:spPr>
          <a:xfrm>
            <a:off x="10744200" y="4855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40080" y="55321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5F9FB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6384" y="56784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9" name="Text 67"/>
          <p:cNvSpPr/>
          <p:nvPr/>
        </p:nvSpPr>
        <p:spPr>
          <a:xfrm>
            <a:off x="786384" y="5678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1417320" y="5660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 &amp; Feature Toggles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1417320" y="6208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TC-079–082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246120" y="62270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73" name="Text 71"/>
          <p:cNvSpPr/>
          <p:nvPr/>
        </p:nvSpPr>
        <p:spPr>
          <a:xfrm>
            <a:off x="3246120" y="62270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389120" y="553212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35424" y="5678424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76" name="Text 74"/>
          <p:cNvSpPr/>
          <p:nvPr/>
        </p:nvSpPr>
        <p:spPr>
          <a:xfrm>
            <a:off x="4535424" y="5678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B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5166360" y="5660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· Security · Guards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5166360" y="6208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TC-083–084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995160" y="622706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0A7C8A"/>
          </a:solidFill>
          <a:ln/>
        </p:spPr>
      </p:sp>
      <p:sp>
        <p:nvSpPr>
          <p:cNvPr id="80" name="Text 78"/>
          <p:cNvSpPr/>
          <p:nvPr/>
        </p:nvSpPr>
        <p:spPr>
          <a:xfrm>
            <a:off x="6995160" y="62270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profile &amp; automation split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toward high-risk paths; the majority are automatable with the remainder held as guided manual checks.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type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583680" y="210312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Test-type mix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depth anchored by negative, edge, E2E, smoke and security coverage across the platform.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9202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2039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&amp; edge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3957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cases prove honest failure — no fabricated passes, not-run reasons surfaced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33375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3813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transit/at-rest encryption, cross-tenant isolation, framework-repo publish guard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47548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4873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52303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journeys: Jira→generate→script→execute→heal→publish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case, one rigorous format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TC-072  ·  a representative case from System Configuration › Application Setup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adding an application with roles encrypts credentials at rest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Sub-Module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6636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6404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0292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Application; enter name, base URL, environment.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 accepts the values.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Test User Role with username and password.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row is added; password field is masked.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and inspect the request payload.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fields transit-encrypted (__ENC__); response masks secrets.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 the saved application.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persists; password is never returned in plaintext.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captured separately (tagged (created by Tester) / (simulated)) so every run is reproducible and imports cleanly into TestRail &amp; TestLink.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definition of done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intelliqe-application-test-plan.md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source — 84 cases in the repo authoring-standard block format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121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intelliqe-application-test-plan.xlsx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multi-row export + Overview &amp; Traceability sheets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163B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121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intelliqe-application-test-plan.pptx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532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executive summary of scope, coverage and rigor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has a recorded result with evidence (screenshot, report link, or API response).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&amp; High cases pass, or failures are logged in the Bug Tracker with a linked run/test-case.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case reveals plaintext secrets, cross-tenant leakage, or a framework-repo publish bypass.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imports cleanly into TestRail and TestLink with no manual field fixes.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2026-08-10T12:15:30Z</dcterms:created>
  <dcterms:modified xsi:type="dcterms:W3CDTF">2026-08-10T12:15:30Z</dcterms:modified>
</cp:coreProperties>
</file>