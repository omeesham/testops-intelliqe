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</p:sldIdLst>
  <p:notesMasterIdLst>
    <p:notesMasterId r:id="rId10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notesMaster" Target="notesMasters/notesMaster1.xml"/><Relationship Id="rId101" Type="http://schemas.openxmlformats.org/officeDocument/2006/relationships/presProps" Target="presProps.xml"/><Relationship Id="rId102" Type="http://schemas.openxmlformats.org/officeDocument/2006/relationships/viewProps" Target="viewProps.xml"/><Relationship Id="rId103" Type="http://schemas.openxmlformats.org/officeDocument/2006/relationships/theme" Target="theme/theme1.xml"/><Relationship Id="rId10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all 88 API-automation tools, grouped into 8 capability areas. 13 were smoke-tested live on 2026-10-14.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Agenda: each group is a section divider followed by one slide per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 &amp; author: 14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coworker (Atto) — A chat copilot with autonomy across the whole lifecycle — ask it to discover, generate, run or heal.
Headless: POST /orchestrator/chat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Autopilot (autonomous loop) — A hands-off loop: discover endpoints → generate → run → heal → open a reviewed PR.
Headless: POST /autopilot/run · GET /autopilot/cycles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Story-driven generation — Turn a Jira story or PRD into a concrete test plan mapped to your endpoints.
Headless: POST /story/generate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Multimodal inputs — Generate a plan from a screenshot, Figma frame or a recording — not just text.
Headless: POST /multimodal/analyze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Author in plain English — Describe what you want to test in prose; get a run strategy (coverage + layers) back.
Headless: POST /nl-author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Chat-to-test — Refine an existing test conversationally — tighten an assertion, add an edge case.
Headless: POST /chat-test/refine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Coverage-guided generation — Probe branches of the live API, then generate tests aimed at the uncovered paths.
Headless: POST /covguide/run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Stateful / white-box generation — Generate producer→consumer CRUD sequences that respect resource state.
Headless: POST /stateful/generate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Model-based generation — Learn the API state machine and emit long, realistic business sequences.
Headless: POST /model-gen/generate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data factory — Produce realistic, seeded, referentially-correct test data for your requests.
Headless: POST /synth-data/generate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 builder — Assemble a multi-step journey: chain requests, extract variables, assert per step.
Headless: POST /flows/run
[Verified live 2026-10-14]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groups library — Reusable login / token / teardown sequences referenced by many flows.
Headless: GET/POST /step-groups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Unified cross-layer test — One test spanning API + DB + UI steps that share variables.
Headless: POST /unified/run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Autonomous maintenance — Detect drift + coverage gaps and propose a changeset to keep the suite current.
Headless: POST /maintenance/plan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&amp; authorization: 12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scan — Non-destructive OWASP-lite scan: broken auth, injection surface, headers, CORS.
Headless: POST /security/scan
[Verified live 2026-10-14]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OWASP API Top-10 — Compliance posture across the 2023 OWASP API categories with a grade.
Headless: POST /security/owasp
[Verified live 2026-10-14]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Fuzz / property test — AI-guided boundary &amp; malformed inputs (read-only) to surface crashes and leaks.
Headless: POST /fuzz
[Verified live 2026-10-14]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Sequence fuzzing — Stateful CRUD-chain fuzzing — mutate values across a dependent sequence.
Headless: POST /seqfuzz/run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Authorization (BOLA / BFLA) — Multi-role cross-user and privileged-access checks — the #1 API risk.
Headless: POST /authz/scan
[Verified live 2026-10-14]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 authorization &amp; data exposure — Multi-role excessive-data, mass-assignment and method-tampering checks.
Headless: POST /authz/deep-scan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Assertion strength (mutation) — Grade how strong your assertions are by mutating a live response.
Headless: POST /mutation/grade-live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Semantic assertion — Judge AI / NL responses by intent, not exact string match (LLM-backed).
Headless: POST /semantic/assert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classification — Detect PII / secrets in responses and surface shadow (undocumented) APIs.
Headless: POST /data-classify/scan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OpenAPI security audit — 42Crunch-style static scoring of an OpenAPI/Swagger document (0–100).
Headless: POST /spec-audit/scan
[Verified live 2026-10-14]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OAuth &amp; secrets — OAuth2 token flows plus secrets from Vault / AWS / Azure / GCP.
Headless: POST /oauth/configs · /secrets/resolve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 control — Tenant RBAC, SSO (OIDC) and SCIM provisioning for the platform itself.
Headless: GET /access/* · POST /access/sso/test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Performance &amp; resilience: 6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 test — In-house concurrency runner: latency percentiles, throughput, status mix.
Headless: POST /loadtest
[Verified live 2026-10-14]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 profile &amp; SLA — Staged ramp-up with a p95 / error-rate SLA gate → pass or fail.
Headless: POST /loadtest/profile
[Verified live 2026-10-14]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 / distributed load — Drive load from multiple regions, with an SLA gate per region.
Headless: POST /loadtest/geo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Distributed cloud load — Fan out to remote load agents for higher RPS, with an SLA gate.
Headless: POST /loadtest/cloud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Distributed load ramp — Staged high-RPS ramp across the registered agent pool.
Headless: POST /loadtest/cloud-profile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Chaos / resilience — Inject faults (latency, errors) and grade graceful degradation.
Headless: POST /chaos/probe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Contracts &amp; virtualization: 10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 validation — Live-probe endpoints and check status, JSON body and inferred/explicit schema.
Headless: POST /contract/validate
[Verified live 2026-10-14]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 drift — Detect live changes vs the catalogue and adopt them with one click.
Headless: POST /drift/scan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Regression baselines — Snapshot responses, then diff later runs to catch unintended drift.
Headless: POST /baselines/capture · /compare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Breaking-change gate — Diff two OpenAPI specs and gate go / no-go on breaking changes.
Headless: POST /specdiff
[Verified live 2026-10-14]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 &amp; replay — Deterministic, zero-cost regression replay; auto-learns response noise.
Headless: POST /replays/record · /run
[Verified live 2026-10-14]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Pact broker — Consumer-driven contracts: publish pacts, verify providers, can-I-deploy.
Headless: POST /pacts · /pacts/:id/verify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AsyncAPI contracts — Validate event channels and message schemas for async APIs.
Headless: POST /asyncapi/validate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 virtualization — Stateful, fault-injecting virtual stand-ins for dependencies.
Headless: POST /virtual-services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Hosted mock server — Publish endpoints as a live stub URL for front-end / integration work.
Headless: POST /mocks · /mocks/:id/toggle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 proxy — Sit in front of live traffic to validate contracts and simulate deps.
Headless: POST /proxies · GET /proxies/:id/events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Coverage &amp; intelligence: 7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coverage — See which endpoints are covered by the current suite — and which are not.
Headless: derived from run scenarios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Traffic coverage gaps — Compare real captured traffic to tested endpoints to find blind spots.
Headless: POST /coverage/gaps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intelligence — Flaky-test detection, quarantine and change-impact insight.
Headless: GET /testintel/flaky · POST /testintel/impact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impact — History- and flow-aware selection of the tests a change actually touches.
Headless: POST /impact/deep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Suite optimizer — Rank by risk and prune redundant tests to shrink run time.
Headless: POST /suite/optimize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Semantic self-healing — Intent-aware fixes for failing tests — repair the assertion, not just retry.
Headless: POST /heal/propose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Data-correctness verify — Assert a write actually propagated across services / databases.
Headless: POST /data-correctness/verify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Protocols, data &amp; AI: 13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Async &amp; streaming — Probe WebSocket and SSE endpoints — connect, send, assert messages.
Headless: POST /async/probe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Events &amp; gRPC — Test Kafka topics and gRPC services (unary, streaming, reflection).
Headless: POST /messaging/kafka · /messaging/grpc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Callback verification — Capture async webhooks at a generated URL and assert their payloads.
Headless: POST /callbacks · GET /callbacks/:token/events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Data-driven testing — Run one endpoint over a table of rows, templating {{vars}} per row.
Headless: POST /datadriven
[Verified live 2026-10-14]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data profiles — Named datasets (CSV / Excel / DB / Sheet) → run a flow per row.
Headless: POST /data-profiles · /import/excel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Database validation — Read-only SELECT assertions against a configured DB connection.
Headless: POST /db/connections · /db/validate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Traffic capture — Record real API calls into a session and turn them into endpoints.
Headless: POST /capture/sessions · /ingest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Browser recorder — Record API traffic from browser DevTools via the extension.
Headless: GET /capture/recorder-extension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correlation — Assert distributed-tracing spans in Jaeger / Zipkin / Tempo.
Headless: POST /trace/probe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 providers — Configure OpenAI / Azure / Gemini or compatible models for AI features.
Headless: POST /providers/config · /providers/test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server — Expose IntelliQE tools to external AI agents over MCP, with scoped tokens.
Headless: POST /mcp-tokens · /mcp/security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/ LLM &amp; MCP testing — Quality eval, LLM OWASP Top-10 and MCP security for AI endpoints.
Headless: POST /llm/eval · /llm/security · /mcp/security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LLM eval harness — Promptfoo-style scoring with an LLM-judge over a dataset.
Headless: POST /llm-eval/run · GET /llm-eval/metrics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Governance &amp; compliance: 7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governance — Spectral-style rulesets enforced as a CI gate on API design.
Headless: POST /governance/lint (ruleset)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Governance lint — Flag API design smells — naming, status codes, missing docs.
Headless: POST /governance/lint
[Verified live 2026-10-14]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Compliance packs — Posture checks for PCI / HIPAA / GDPR / PSD2.
Headless: POST /compliance/scan · GET /compliance/packs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AI-era compliance — EU AI Act and DORA posture for AI-driven systems.
Headless: POST /ai-compliance/scan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cost / FinOps — Estimate and cap token spend per run before it runs.
Headless: POST /finops/estimate · GET /finops/rates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On-prem / air-gapped — Plan a self-hosted deployment with a data-residency policy.
Headless: POST /onprem/plan · GET /onprem/regions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Full-code &amp; Monitoring-as-Code — Export owned, local-first code — no lock-in; monitoring as code.
Headless: POST /codegen/project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Execution, CI &amp; lifecycle: 19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Schedules &amp; webhooks — Recurring runs on a cron with Slack / Teams alerts.
Headless: POST /schedules · /webhooks · /webhooks/:id/test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 / GitHub Action — Trigger and gate runs from your pipeline with a CI token.
Headless: POST /ci/token · GET /ci/config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Release gate — Score a run and return a go / no-go decision to deploy.
Headless: POST /release-gate/evaluate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Parallel run queue — Queue runs across concurrency slots so they do not collide.
Headless: POST /exec-queue/enqueue · GET /exec-queue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Cloud browser lab — Run UI checks on hosted browsers across a device / browser matrix.
Headless: POST /cloud-labs/run · /cloud-labs/:id/test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 + UI hybrid test — Seed state via API, verify it in the UI, then clean up.
Headless: POST /hybrid · /hybrid/run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Monitoring — Always-on watcher for health, drift and coverage with events.
Headless: POST /monitor/run · GET /monitor/events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status page — Shareable uptime + SLO page probed on a schedule.
Headless: POST /status-pages · /:id/probe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Failure → fix workflow — Cluster failures → heal → open a PR, in one guided flow.
Headless: POST /failures/cluster · /heal/propose · /remediation/pr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Bug report — Generate a tracker-ready bug report from a failure.
Headless: POST /bug-report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Remediation PR — Open a GitHub / GitLab PR containing a proposed changeset.
Headless: POST /remediation/pr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Git-synced tests — Push / pull the catalogue as test-as-code in your repo.
Headless: POST /git-sync/push · /git-sync/pull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export — Export compliance evidence of a run to PDF.
Headless: POST /evidence/export · /evidence/preview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 log — Filter and export every recorded action for traceability.
Headless: GET /audit · /audit/export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Traceability matrix — Link requirement → test case → defect in one matrix.
Headless: GET/POST /requirements · /plans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 management — Organize suites, plans, cycles and assignments.
Headless: POST /suites · /plans · /cycles/start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TM connectors — Export to TestRail / Xray / Zephyr / qTest.
Headless: POST /tm-connectors · /:id/export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Approvals — Multi-stage release gating with approver workflows.
Headless: POST /approval-workflows · /approval-requests/act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Collaboration — Comments and version history on the catalogue.
Headless: POST /collab/comments · /collab/versions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54864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548640"/>
            <a:ext cx="292608" cy="292608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548640"/>
            <a:ext cx="292608" cy="29260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5" name="Shape 3"/>
          <p:cNvSpPr/>
          <p:nvPr/>
        </p:nvSpPr>
        <p:spPr>
          <a:xfrm>
            <a:off x="11612880" y="548640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0" y="1005840"/>
            <a:ext cx="292608" cy="29260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10698480" y="1005840"/>
            <a:ext cx="292608" cy="292608"/>
          </a:xfrm>
          <a:prstGeom prst="ellipse">
            <a:avLst/>
          </a:prstGeom>
          <a:solidFill>
            <a:srgbClr val="C026D3"/>
          </a:solidFill>
          <a:ln/>
        </p:spPr>
      </p:sp>
      <p:sp>
        <p:nvSpPr>
          <p:cNvPr id="8" name="Shape 6"/>
          <p:cNvSpPr/>
          <p:nvPr/>
        </p:nvSpPr>
        <p:spPr>
          <a:xfrm>
            <a:off x="11155680" y="1005840"/>
            <a:ext cx="292608" cy="29260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0" y="1005840"/>
            <a:ext cx="292608" cy="29260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 · API Automation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202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 Testing Tools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971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test every feature — description, steps &amp; flow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114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937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4114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4937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groups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4114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818C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48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4937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live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2026-10-14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8 capability groups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612898" cy="2148840"/>
          </a:xfrm>
          <a:prstGeom prst="roundRect">
            <a:avLst>
              <a:gd name="adj" fmla="val 42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7CBD1">
                <a:alpha val="4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64592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22471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author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80360"/>
            <a:ext cx="224713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generate tests — from prose, specs, models or the live API.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44418" y="1417320"/>
            <a:ext cx="2612898" cy="2148840"/>
          </a:xfrm>
          <a:prstGeom prst="roundRect">
            <a:avLst>
              <a:gd name="adj" fmla="val 42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7CBD1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73018" y="1645920"/>
            <a:ext cx="731520" cy="73152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73018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527298" y="2468880"/>
            <a:ext cx="22471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authorization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27298" y="2880360"/>
            <a:ext cx="224713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vulnerabilities, weak auth and sensitive-data exposure.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31636" y="1417320"/>
            <a:ext cx="2612898" cy="2148840"/>
          </a:xfrm>
          <a:prstGeom prst="roundRect">
            <a:avLst>
              <a:gd name="adj" fmla="val 42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7CBD1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60236" y="1645920"/>
            <a:ext cx="731520" cy="7315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60236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414516" y="2468880"/>
            <a:ext cx="22471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resilience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14516" y="2880360"/>
            <a:ext cx="224713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throughput, SLA gates and fault tolerance.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18854" y="1417320"/>
            <a:ext cx="2612898" cy="2148840"/>
          </a:xfrm>
          <a:prstGeom prst="roundRect">
            <a:avLst>
              <a:gd name="adj" fmla="val 42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7CBD1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47454" y="16459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47454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301734" y="2468880"/>
            <a:ext cx="22471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&amp; virtualization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301734" y="2880360"/>
            <a:ext cx="224713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contracts, catch drift, replay and stub dependencies.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2612898" cy="2148840"/>
          </a:xfrm>
          <a:prstGeom prst="roundRect">
            <a:avLst>
              <a:gd name="adj" fmla="val 42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7CBD1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" y="411480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4114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937760"/>
            <a:ext cx="22471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&amp; intelligence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349240"/>
            <a:ext cx="224713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is tested, what is flaky, and what a change touches.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44418" y="3886200"/>
            <a:ext cx="2612898" cy="2148840"/>
          </a:xfrm>
          <a:prstGeom prst="roundRect">
            <a:avLst>
              <a:gd name="adj" fmla="val 42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7CBD1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573018" y="4114800"/>
            <a:ext cx="731520" cy="731520"/>
          </a:xfrm>
          <a:prstGeom prst="ellipse">
            <a:avLst/>
          </a:prstGeom>
          <a:solidFill>
            <a:srgbClr val="C026D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573018" y="4114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600" dirty="0"/>
          </a:p>
        </p:txBody>
      </p:sp>
      <p:sp>
        <p:nvSpPr>
          <p:cNvPr id="31" name="Text 29"/>
          <p:cNvSpPr txBox="1"/>
          <p:nvPr/>
        </p:nvSpPr>
        <p:spPr>
          <a:xfrm>
            <a:off x="3527298" y="4937760"/>
            <a:ext cx="22471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Protocols, data &amp; AI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527298" y="5349240"/>
            <a:ext cx="224713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Streaming, events, databases, and testing AI / LLM systems.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31636" y="3886200"/>
            <a:ext cx="2612898" cy="2148840"/>
          </a:xfrm>
          <a:prstGeom prst="roundRect">
            <a:avLst>
              <a:gd name="adj" fmla="val 42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7CBD1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60236" y="4114800"/>
            <a:ext cx="731520" cy="7315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60236" y="4114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6414516" y="4937760"/>
            <a:ext cx="22471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compliance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414516" y="5349240"/>
            <a:ext cx="224713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 rules, regulatory posture and cost governance.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118854" y="3886200"/>
            <a:ext cx="2612898" cy="2148840"/>
          </a:xfrm>
          <a:prstGeom prst="roundRect">
            <a:avLst>
              <a:gd name="adj" fmla="val 42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C7CBD1">
                <a:alpha val="4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347454" y="4114800"/>
            <a:ext cx="731520" cy="7315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347454" y="4114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2600" dirty="0"/>
          </a:p>
        </p:txBody>
      </p:sp>
      <p:sp>
        <p:nvSpPr>
          <p:cNvPr id="41" name="Text 39"/>
          <p:cNvSpPr txBox="1"/>
          <p:nvPr/>
        </p:nvSpPr>
        <p:spPr>
          <a:xfrm>
            <a:off x="9301734" y="4937760"/>
            <a:ext cx="22471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CI &amp; lifecycle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9301734" y="5349240"/>
            <a:ext cx="224713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Schedule, gate, report and manage tests across the delivery flow.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2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 &amp; author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6576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and generate tests — from prose, specs, models or the live API.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480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tools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016252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author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coworker (Atto)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chat copilot with autonomy across the whole lifecycle — ask it to discover, generate, run or heal.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Generate &amp; author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coworker and type a goal, e.g. "test the /posts API".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it propose endpoints + a strategy; approve the plan.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it produced scenarios / a run.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/orchestrator/chat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goal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 plans &amp; acts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/ run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016252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author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Autopilot (autonomous loop)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hands-off loop: discover endpoints → generate → run → heal → open a reviewed PR.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Generate &amp; author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target (spec/base URL) and a budget cap.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cycle; watch discover→generate→run→heal.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proposed changeset / PR before approving.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/autopilot/run · GET /autopilot/cycles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API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loop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PR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016252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author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Story-driven generation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Jira story or PRD into a concrete test plan mapped to your endpoints.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Generate &amp; author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user story / acceptance criteria.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endpoints it should cover.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returned brief as the run strategy.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/story/generate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story / PRD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maps to endpoints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016252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author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 inputs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plan from a screenshot, Figma frame or a recording — not just text.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Generate &amp; author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screenshot / Figma export / recording.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inferred endpoints &amp; intent.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brief to the generator.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/multimodal/analyze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recording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→ intent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brief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016252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author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 in plain English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you want to test in prose; get a run strategy (coverage + layers) back.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Generate &amp; author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"exhaustive negative tests for auth endpoints".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coverage + layers it chose.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— the main generator uses the brief.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/nl-author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 request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→ strategy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+ layers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016252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author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Chat-to-test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an existing test conversationally — tighten an assertion, add an edge case.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Generate &amp; author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scenario and describe the change.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"also assert the response is under 500ms".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refined test.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/chat-test/refine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test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refinement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test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016252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author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Coverage-guided generation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branches of the live API, then generate tests aimed at the uncovered paths.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Generate &amp; author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endpoints and run the probe.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discovered branches &amp; current gaps.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gap-filling scenarios.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/covguide/run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probe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gaps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tests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016252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author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Stateful / white-box generation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producer→consumer CRUD sequences that respect resource state.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Generate &amp; author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resource (e.g. /posts).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create→read→update→delete chain.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sequence; state carries between steps.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/stateful/generate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resource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 state machine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sequence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016252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author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Model-based generation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API state machine and emit long, realistic business sequences.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Generate &amp; author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endpoints / a spec.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it learn states &amp; transitions.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multi-step business journeys.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/model-gen/generate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/ spec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model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journeys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016252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author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Synthetic data factory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realistic, seeded, referentially-correct test data for your requests.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Generate &amp; author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fields / a schema.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 seeded rows (reproducible).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rows into data-driven runs.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/synth-data/generate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/ fields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generator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dataset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016252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author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11480"/>
            <a:ext cx="1764792" cy="310896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 live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 builder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a multi-step journey: chain requests, extract variables, assert per step.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Generate &amp; author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step 1 (e.g. GET /posts/1), extract userId.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step 2 (GET /users/{{userId}}) with checks.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— variables flow between steps.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/flows/run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→ extract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uses var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Per-step asserts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016252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author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groups library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login / token / teardown sequences referenced by many flows.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Generate &amp; author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group (e.g. "OAuth login").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it to the library.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it by id inside any flow.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GET/POST /step-groups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steps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group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in flows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016252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author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 cross-layer test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spanning API + DB + UI steps that share variables.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Generate &amp; author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API step, a DB SELECT step, a UI step.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variables across layers.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unified test end-to-end.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/unified/run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DB + UI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variables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verdict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016252" cy="310896"/>
          </a:xfrm>
          <a:prstGeom prst="roundRect">
            <a:avLst>
              <a:gd name="adj" fmla="val 23529"/>
            </a:avLst>
          </a:prstGeom>
          <a:solidFill>
            <a:srgbClr val="7C3AED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&amp; author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 maintenance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drift + coverage gaps and propose a changeset to keep the suite current.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Generate &amp; author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against the current catalogue.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drift + gap findings.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proposed maintenance changeset.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/maintenance/plan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+ gaps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Changeset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11D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2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&amp; authorization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6576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vulnerabilities, weak auth and sensitive-data exposure.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480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tools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688336" cy="310896"/>
          </a:xfrm>
          <a:prstGeom prst="roundRect">
            <a:avLst>
              <a:gd name="adj" fmla="val 23529"/>
            </a:avLst>
          </a:prstGeom>
          <a:solidFill>
            <a:srgbClr val="E11D4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authorization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11480"/>
            <a:ext cx="1764792" cy="310896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 live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scan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Non-destructive OWASP-lite scan: broken auth, injection surface, headers, CORS.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Security &amp; authorization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endpoints and run the scan.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findings by severity.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high/medium issues.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/security/scan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Non-destructive probes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by severity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688336" cy="310896"/>
          </a:xfrm>
          <a:prstGeom prst="roundRect">
            <a:avLst>
              <a:gd name="adj" fmla="val 23529"/>
            </a:avLst>
          </a:prstGeom>
          <a:solidFill>
            <a:srgbClr val="E11D4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authorization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11480"/>
            <a:ext cx="1764792" cy="310896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 live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OWASP API Top-10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posture across the 2023 OWASP API categories with a grade.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Security &amp; authorization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against your endpoints.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grade + per-category status.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failed / review categories.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/security/owasp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Top-10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+ gaps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688336" cy="310896"/>
          </a:xfrm>
          <a:prstGeom prst="roundRect">
            <a:avLst>
              <a:gd name="adj" fmla="val 23529"/>
            </a:avLst>
          </a:prstGeom>
          <a:solidFill>
            <a:srgbClr val="E11D4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authorization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11480"/>
            <a:ext cx="1764792" cy="310896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 live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Fuzz / property test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AI-guided boundary &amp; malformed inputs (read-only) to surface crashes and leaks.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Security &amp; authorization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 endpoint; run the fuzzer.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cases run and issues found.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any 5xx / leak.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/fuzz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Malformed inputs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issues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688336" cy="310896"/>
          </a:xfrm>
          <a:prstGeom prst="roundRect">
            <a:avLst>
              <a:gd name="adj" fmla="val 23529"/>
            </a:avLst>
          </a:prstGeom>
          <a:solidFill>
            <a:srgbClr val="E11D4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authorization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 fuzzing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CRUD-chain fuzzing — mutate values across a dependent sequence.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Security &amp; authorization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CRUD chain.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stateful fuzzing over the sequence.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ordering / state defects.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/seqfuzz/run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chain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mutation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defects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688336" cy="310896"/>
          </a:xfrm>
          <a:prstGeom prst="roundRect">
            <a:avLst>
              <a:gd name="adj" fmla="val 23529"/>
            </a:avLst>
          </a:prstGeom>
          <a:solidFill>
            <a:srgbClr val="E11D4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authorization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11480"/>
            <a:ext cx="1764792" cy="310896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 live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Authorization (BOLA / BFLA)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Multi-role cross-user and privileged-access checks — the #1 API risk.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Security &amp; authorization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identities (e.g. anon, userB).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scan on object/function endpoints.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which identity reached what.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/authz/scan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identities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Cross-access probe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access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688336" cy="310896"/>
          </a:xfrm>
          <a:prstGeom prst="roundRect">
            <a:avLst>
              <a:gd name="adj" fmla="val 23529"/>
            </a:avLst>
          </a:prstGeom>
          <a:solidFill>
            <a:srgbClr val="E11D4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authorization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authorization &amp; data exposure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Multi-role excessive-data, mass-assignment and method-tampering checks.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Security &amp; authorization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identities + object ownership.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deep scan.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mass-assignment / over-exposure.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/authz/deep-scan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+ objects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probes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findings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688336" cy="310896"/>
          </a:xfrm>
          <a:prstGeom prst="roundRect">
            <a:avLst>
              <a:gd name="adj" fmla="val 23529"/>
            </a:avLst>
          </a:prstGeom>
          <a:solidFill>
            <a:srgbClr val="E11D4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authorization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Assertion strength (mutation)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how strong your assertions are by mutating a live response.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Security &amp; authorization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 endpoint + its assertions.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live mutation grading.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weakly-caught assertions.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/mutation/grade-live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+ asserts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mutations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 grade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688336" cy="310896"/>
          </a:xfrm>
          <a:prstGeom prst="roundRect">
            <a:avLst>
              <a:gd name="adj" fmla="val 23529"/>
            </a:avLst>
          </a:prstGeom>
          <a:solidFill>
            <a:srgbClr val="E11D4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authorization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assertion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AI / NL responses by intent, not exact string match (LLM-backed).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Security &amp; authorization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intent to satisfy.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against a response.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pass/fail with rationale.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/semantic/assert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judges intent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/ fail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688336" cy="310896"/>
          </a:xfrm>
          <a:prstGeom prst="roundRect">
            <a:avLst>
              <a:gd name="adj" fmla="val 23529"/>
            </a:avLst>
          </a:prstGeom>
          <a:solidFill>
            <a:srgbClr val="E11D4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authorization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classification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PII / secrets in responses and surface shadow (undocumented) APIs.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Security &amp; authorization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responses / traffic.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PII &amp; secret hits.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shadow endpoints.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/data-classify/scan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PII/secrets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+ shadow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688336" cy="310896"/>
          </a:xfrm>
          <a:prstGeom prst="roundRect">
            <a:avLst>
              <a:gd name="adj" fmla="val 23529"/>
            </a:avLst>
          </a:prstGeom>
          <a:solidFill>
            <a:srgbClr val="E11D4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authorization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11480"/>
            <a:ext cx="1764792" cy="310896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 live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OpenAPI security audit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42Crunch-style static scoring of an OpenAPI/Swagger document (0–100).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Security &amp; authorization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 OpenAPI/Swagger doc.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audit.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issues to raise the score.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/spec-audit/scan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doc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audit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issues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688336" cy="310896"/>
          </a:xfrm>
          <a:prstGeom prst="roundRect">
            <a:avLst>
              <a:gd name="adj" fmla="val 23529"/>
            </a:avLst>
          </a:prstGeom>
          <a:solidFill>
            <a:srgbClr val="E11D4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authorization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OAuth &amp; secrets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token flows plus secrets from Vault / AWS / Azure / GCP.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Security &amp; authorization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an OAuth2 client or secret source.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 token / resolve a secret.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as request auth.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/oauth/configs · /secrets/resolve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vault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/ secret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auth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688336" cy="310896"/>
          </a:xfrm>
          <a:prstGeom prst="roundRect">
            <a:avLst>
              <a:gd name="adj" fmla="val 23529"/>
            </a:avLst>
          </a:prstGeom>
          <a:solidFill>
            <a:srgbClr val="E11D4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authorization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control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RBAC, SSO (OIDC) and SCIM provisioning for the platform itself.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Security &amp; authorization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SSO / SCIM / roles.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SSO test.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provisioning / permissions.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/access/* · POST /access/sso/test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/ SSO / SCIM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config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E11D4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verified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A5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2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&amp; resilience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6576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Latency, throughput, SLA gates and fault tolerance.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480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tools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688336" cy="310896"/>
          </a:xfrm>
          <a:prstGeom prst="roundRect">
            <a:avLst>
              <a:gd name="adj" fmla="val 23529"/>
            </a:avLst>
          </a:prstGeom>
          <a:solidFill>
            <a:srgbClr val="EA580C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resilience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11480"/>
            <a:ext cx="1764792" cy="310896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 live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 test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concurrency runner: latency percentiles, throughput, status mix.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Performance &amp; resilience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endpoint; set requests + concurrency.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load test.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p50/p95/p99 + error rate.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/loadtest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+ load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requests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+ mix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688336" cy="310896"/>
          </a:xfrm>
          <a:prstGeom prst="roundRect">
            <a:avLst>
              <a:gd name="adj" fmla="val 23529"/>
            </a:avLst>
          </a:prstGeom>
          <a:solidFill>
            <a:srgbClr val="EA580C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resilience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11480"/>
            <a:ext cx="1764792" cy="310896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 live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 profile &amp; SLA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ramp-up with a p95 / error-rate SLA gate → pass or fail.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Performance &amp; resilience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stages (durationSec, rps).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SLA thresholds (p95, error %).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— gate returns pass/fail.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/loadtest/profile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stages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vs SLA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pass/fail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688336" cy="310896"/>
          </a:xfrm>
          <a:prstGeom prst="roundRect">
            <a:avLst>
              <a:gd name="adj" fmla="val 23529"/>
            </a:avLst>
          </a:prstGeom>
          <a:solidFill>
            <a:srgbClr val="EA580C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resilience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 / distributed load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load from multiple regions, with an SLA gate per region.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Performance &amp; resilience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regions + load.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multi-region load.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regional latency vs SLA.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/loadtest/geo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load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latency + SLA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688336" cy="310896"/>
          </a:xfrm>
          <a:prstGeom prst="roundRect">
            <a:avLst>
              <a:gd name="adj" fmla="val 23529"/>
            </a:avLst>
          </a:prstGeom>
          <a:solidFill>
            <a:srgbClr val="EA580C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resilience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Distributed cloud load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out to remote load agents for higher RPS, with an SLA gate.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Performance &amp; resilience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remote agents.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out the run across them.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results vs SLA.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/loadtest/cloud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agents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load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+ SLA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688336" cy="310896"/>
          </a:xfrm>
          <a:prstGeom prst="roundRect">
            <a:avLst>
              <a:gd name="adj" fmla="val 23529"/>
            </a:avLst>
          </a:prstGeom>
          <a:solidFill>
            <a:srgbClr val="EA580C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resilience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Distributed load ramp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high-RPS ramp across the registered agent pool.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Performance &amp; resilience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high-RPS stages.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across the agent pool.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throughput scale per stage.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/loadtest/cloud-profile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High-RPS stages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pool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throughput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688336" cy="310896"/>
          </a:xfrm>
          <a:prstGeom prst="roundRect">
            <a:avLst>
              <a:gd name="adj" fmla="val 23529"/>
            </a:avLst>
          </a:prstGeom>
          <a:solidFill>
            <a:srgbClr val="EA580C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resilience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Chaos / resilience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faults (latency, errors) and grade graceful degradation.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Performance &amp; resilience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 endpoint; choose fault types.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chaos probe.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degradation grade.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/chaos/probe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faults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grade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2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Contracts &amp; virtualization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6576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 contracts, catch drift, replay and stub dependencies.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480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tools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880360" cy="310896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&amp; virtualization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11480"/>
            <a:ext cx="1764792" cy="310896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 live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 validation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Live-probe endpoints and check status, JSON body and inferred/explicit schema.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Contracts &amp; virtualization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endpoints with expected status.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validation.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per-endpoint contract pass/fail.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/contract/validate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+ schema check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verdicts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880360" cy="310896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&amp; virtualization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 drift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live changes vs the catalogue and adopt them with one click.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Contracts &amp; virtualization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drift scan.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changed fields / status.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live contract if intended.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/drift/scan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vs live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contracts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changes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880360" cy="310896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&amp; virtualization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 baselines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responses, then diff later runs to catch unintended drift.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Contracts &amp; virtualization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 baseline snapshot.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Later, run compare.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response diff.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/baselines/capture · /compare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snapshot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later run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report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880360" cy="310896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&amp; virtualization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11480"/>
            <a:ext cx="1764792" cy="310896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 live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Breaking-change gate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two OpenAPI specs and gate go / no-go on breaking changes.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Contracts &amp; virtualization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old + new OpenAPI specs.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diff.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fails if breaking changes exist.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/specdiff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vs new spec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changes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gate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880360" cy="310896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&amp; virtualization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11480"/>
            <a:ext cx="1764792" cy="310896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 live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 &amp; replay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zero-cost regression replay; auto-learns response noise.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Contracts &amp; virtualization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responses for endpoints.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Later, replay them.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matched vs drifted.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/replays/record · /run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live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later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/ drift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880360" cy="310896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&amp; virtualization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Pact broker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Consumer-driven contracts: publish pacts, verify providers, can-I-deploy.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Contracts &amp; virtualization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 consumer pact.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provider against it.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can-I-deploy before release.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/pacts · /pacts/:id/verify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pact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provider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Can-I-deploy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880360" cy="310896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&amp; virtualization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AsyncAPI contracts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event channels and message schemas for async APIs.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Contracts &amp; virtualization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an AsyncAPI document.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validation.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channel / message issues.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/asyncapi/validate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AsyncAPI doc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channels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issues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880360" cy="310896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&amp; virtualization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virtualization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Stateful, fault-injecting virtual stand-ins for dependencies.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Contracts &amp; virtualization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virtual service + behaviours.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tests at it.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faults to test handling.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/virtual-services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spec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service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stub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880360" cy="310896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&amp; virtualization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Hosted mock server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endpoints as a live stub URL for front-end / integration work.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Contracts &amp; virtualization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endpoints; create a mock.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it on to get a URL.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the URL and confirm responses.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/mocks · /mocks/:id/toggle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stub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mock URL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880360" cy="310896"/>
          </a:xfrm>
          <a:prstGeom prst="roundRect">
            <a:avLst>
              <a:gd name="adj" fmla="val 23529"/>
            </a:avLst>
          </a:prstGeom>
          <a:solidFill>
            <a:srgbClr val="0D948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&amp; virtualization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Contract proxy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in front of live traffic to validate contracts and simulate deps.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Contracts &amp; virtualization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proxy; route traffic through it.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live validation events.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 dependency response.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/proxies · GET /proxies/:id/events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traffic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validates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+ sim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2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Coverage &amp; intelligence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6576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what is tested, what is flaky, and what a change touches.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480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tools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592324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&amp; intelligence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coverage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endpoints are covered by the current suite — and which are not.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Coverage &amp; intelligence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coverage against a run.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covered vs uncovered endpoints.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gaps for new tests.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derived from run scenarios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+ run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coverage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/ gaps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592324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&amp; intelligence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Traffic coverage gaps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real captured traffic to tested endpoints to find blind spots.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Coverage &amp; intelligence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captured traffic.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gap analysis.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tests for untested calls.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/coverage/gaps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traffic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tests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Untested endpoints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592324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&amp; intelligence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intelligence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Flaky-test detection, quarantine and change-impact insight.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Coverage &amp; intelligence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test intelligence.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flaky / quarantined tests.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or re-enable as needed.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/testintel/flaky · POST /testintel/impact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history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flakiness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Quarantine list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592324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&amp; intelligence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impact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History- and flow-aware selection of the tests a change actually touches.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Coverage &amp; intelligence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the changed endpoints/paths.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deep impact analysis.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only the impacted subset.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/impact/deep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test set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592324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&amp; intelligence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Suite optimizer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risk and prune redundant tests to shrink run time.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Coverage &amp; intelligence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 the suite.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optimization.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pruned, risk-ranked set.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/suite/optimize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suite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+ redundancy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suite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592324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&amp; intelligence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self-healing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Intent-aware fixes for failing tests — repair the assertion, not just retry.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Coverage &amp; intelligence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failing tests.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heal to get proposals.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intent-preserving fix.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/heal/propose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Failing test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 intent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fix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592324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&amp; intelligence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Data-correctness verify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a write actually propagated across services / databases.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Coverage &amp; intelligence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write + where it should land.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verification.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propagation across stores.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/data-correctness/verify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action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downstream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proof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026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2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Protocols, data &amp; AI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6576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Streaming, events, databases, and testing AI / LLM systems.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480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tools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304288" cy="310896"/>
          </a:xfrm>
          <a:prstGeom prst="roundRect">
            <a:avLst>
              <a:gd name="adj" fmla="val 23529"/>
            </a:avLst>
          </a:prstGeom>
          <a:solidFill>
            <a:srgbClr val="C026D3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Protocols, data &amp; 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Async &amp; streaming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WebSocket and SSE endpoints — connect, send, assert messages.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Protocols, data &amp; AI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ws:// or SSE URL.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probe; optionally send a frame.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received messages.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/async/probe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C026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/ SSE URL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C026D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+ listen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C026D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C026D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asserts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304288" cy="310896"/>
          </a:xfrm>
          <a:prstGeom prst="roundRect">
            <a:avLst>
              <a:gd name="adj" fmla="val 23529"/>
            </a:avLst>
          </a:prstGeom>
          <a:solidFill>
            <a:srgbClr val="C026D3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Protocols, data &amp; 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Events &amp; gRPC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Kafka topics and gRPC services (unary, streaming, reflection).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Protocols, data &amp; AI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broker / gRPC target.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Produce/consume or call a method.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the message / response.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/messaging/kafka · /messaging/grpc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C026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/ gRPC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C026D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/ call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C026D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C026D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asserts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304288" cy="310896"/>
          </a:xfrm>
          <a:prstGeom prst="roundRect">
            <a:avLst>
              <a:gd name="adj" fmla="val 23529"/>
            </a:avLst>
          </a:prstGeom>
          <a:solidFill>
            <a:srgbClr val="C026D3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Protocols, data &amp; 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Callback verification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async webhooks at a generated URL and assert their payloads.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Protocols, data &amp; AI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callback token (URL).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the system to call it.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captured events.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/callbacks · GET /callbacks/:token/events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C026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URL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C026D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calls back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C026D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C026D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asserts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304288" cy="310896"/>
          </a:xfrm>
          <a:prstGeom prst="roundRect">
            <a:avLst>
              <a:gd name="adj" fmla="val 23529"/>
            </a:avLst>
          </a:prstGeom>
          <a:solidFill>
            <a:srgbClr val="C026D3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Protocols, data &amp; 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11480"/>
            <a:ext cx="1764792" cy="310896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 live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Data-driven testing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one endpoint over a table of rows, templating {{vars}} per row.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Protocols, data &amp; AI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URL with {{id}} placeholders.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data rows.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— one request per row, pass/fail each.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/datadriven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C026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+ rows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C026D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per row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C026D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C026D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verdicts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304288" cy="310896"/>
          </a:xfrm>
          <a:prstGeom prst="roundRect">
            <a:avLst>
              <a:gd name="adj" fmla="val 23529"/>
            </a:avLst>
          </a:prstGeom>
          <a:solidFill>
            <a:srgbClr val="C026D3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Protocols, data &amp; 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data profiles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datasets (CSV / Excel / DB / Sheet) → run a flow per row.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Protocols, data &amp; AI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 CSV/Excel/DB dataset.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it to a flow.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flow per profile row.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/data-profiles · /import/excel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C026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C026D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to flow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C026D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C026D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Per-row run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304288" cy="310896"/>
          </a:xfrm>
          <a:prstGeom prst="roundRect">
            <a:avLst>
              <a:gd name="adj" fmla="val 23529"/>
            </a:avLst>
          </a:prstGeom>
          <a:solidFill>
            <a:srgbClr val="C026D3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Protocols, data &amp; 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validation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SELECT assertions against a configured DB connection.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Protocols, data &amp; AI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DB connection.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SELECT + expectation.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and assert the rows.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/db/connections · /db/validate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C026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connection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C026D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SELECT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C026D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C026D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asserts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304288" cy="310896"/>
          </a:xfrm>
          <a:prstGeom prst="roundRect">
            <a:avLst>
              <a:gd name="adj" fmla="val 23529"/>
            </a:avLst>
          </a:prstGeom>
          <a:solidFill>
            <a:srgbClr val="C026D3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Protocols, data &amp; 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Traffic capture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real API calls into a session and turn them into endpoints.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Protocols, data &amp; AI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capture session.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real traffic.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captured calls to endpoints.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/capture/sessions · /ingest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C026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calls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C026D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session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C026D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C026D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endpoints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304288" cy="310896"/>
          </a:xfrm>
          <a:prstGeom prst="roundRect">
            <a:avLst>
              <a:gd name="adj" fmla="val 23529"/>
            </a:avLst>
          </a:prstGeom>
          <a:solidFill>
            <a:srgbClr val="C026D3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Protocols, data &amp; 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 recorder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API traffic from browser DevTools via the extension.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Protocols, data &amp; AI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recorder extension.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browsing session.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captured calls.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/capture/recorder-extension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C026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DevTools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C026D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traffic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C026D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C026D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Importable calls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304288" cy="310896"/>
          </a:xfrm>
          <a:prstGeom prst="roundRect">
            <a:avLst>
              <a:gd name="adj" fmla="val 23529"/>
            </a:avLst>
          </a:prstGeom>
          <a:solidFill>
            <a:srgbClr val="C026D3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Protocols, data &amp; 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 correlation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distributed-tracing spans in Jaeger / Zipkin / Tempo.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Protocols, data &amp; AI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 a tracing backend.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request + trace probe.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expected spans exist.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/trace/probe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C026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C026D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trace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C026D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C026D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asserts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304288" cy="310896"/>
          </a:xfrm>
          <a:prstGeom prst="roundRect">
            <a:avLst>
              <a:gd name="adj" fmla="val 23529"/>
            </a:avLst>
          </a:prstGeom>
          <a:solidFill>
            <a:srgbClr val="C026D3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Protocols, data &amp; 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providers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OpenAI / Azure / Gemini or compatible models for AI features.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Protocols, data &amp; AI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provider + key.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connection test.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it is usable by AI tools.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/providers/config · /providers/test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C026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+ key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C026D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connection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C026D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C026D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AI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304288" cy="310896"/>
          </a:xfrm>
          <a:prstGeom prst="roundRect">
            <a:avLst>
              <a:gd name="adj" fmla="val 23529"/>
            </a:avLst>
          </a:prstGeom>
          <a:solidFill>
            <a:srgbClr val="C026D3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Protocols, data &amp; 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server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IntelliQE tools to external AI agents over MCP, with scoped tokens.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Protocols, data &amp; AI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a scoped MCP token.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an MCP client.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an exposed tool.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/mcp-tokens · /mcp/security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C026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token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C026D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C026D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C026D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304288" cy="310896"/>
          </a:xfrm>
          <a:prstGeom prst="roundRect">
            <a:avLst>
              <a:gd name="adj" fmla="val 23529"/>
            </a:avLst>
          </a:prstGeom>
          <a:solidFill>
            <a:srgbClr val="C026D3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Protocols, data &amp; 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/ LLM &amp; MCP testing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eval, LLM OWASP Top-10 and MCP security for AI endpoints.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Protocols, data &amp; AI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 an LLM / MCP endpoint.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quality + security evals.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Top-10 / MCP findings.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/llm/eval · /llm/security · /mcp/security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C026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endpoint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C026D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+ attack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C026D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C026D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+ risks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304288" cy="310896"/>
          </a:xfrm>
          <a:prstGeom prst="roundRect">
            <a:avLst>
              <a:gd name="adj" fmla="val 23529"/>
            </a:avLst>
          </a:prstGeom>
          <a:solidFill>
            <a:srgbClr val="C026D3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Protocols, data &amp; 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eval harness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Promptfoo-style scoring with an LLM-judge over a dataset.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Protocols, data &amp; AI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eval dataset.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harness.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scores + per-case verdicts.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/llm-eval/run · GET /llm-eval/metrics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C026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dataset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C026D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LLM-judge scoring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C026D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C026D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metrics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596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2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&amp; compliance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6576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design rules, regulatory posture and cost governance.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480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tools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592324" cy="310896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compliance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governance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Spectral-style rulesets enforced as a CI gate on API design.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Governance &amp; compliance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/ define a ruleset.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the endpoints or spec.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the build on violations.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/governance/lint (ruleset)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design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gate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592324" cy="310896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compliance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9966960" y="411480"/>
            <a:ext cx="1764792" cy="310896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 live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lint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API design smells — naming, status codes, missing docs.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Governance &amp; compliance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lint on your endpoints.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design-smell findings.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to raise the score.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/governance/lint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Smells + score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592324" cy="310896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compliance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packs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checks for PCI / HIPAA / GDPR / PSD2.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Governance &amp; compliance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compliance pack.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scan.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control-by-control posture.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/compliance/scan · GET /compliance/packs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pack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controls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report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592324" cy="310896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compliance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AI-era compliance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and DORA posture for AI-driven systems.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Governance &amp; compliance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AI framework.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posture scan.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gaps against the framework.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/ai-compliance/scan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framework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posture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report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9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592324" cy="310896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compliance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cost / FinOps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and cap token spend per run before it runs.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Governance &amp; compliance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estimate for a planned run.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projected token cost.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budget cap.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/finops/estimate · GET /finops/rates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run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tokens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+ cap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592324" cy="310896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compliance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On-prem / air-gapped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self-hosted deployment with a data-residency policy.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Governance &amp; compliance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region / residency rules.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deployment plan.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air-gapped topology.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/onprem/plan · GET /onprem/regions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Residency rules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deploy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topo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9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592324" cy="310896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compliance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Full-code &amp; Monitoring-as-Code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owned, local-first code — no lock-in; monitoring as code.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Governance &amp; compliance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project to export.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full code project.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locally / commit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/codegen/project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code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project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9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4F4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22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Execution, CI &amp; lifecycle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6576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Schedule, gate, report and manage tests across the delivery flow.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480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tools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9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784348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CI &amp; lifecycle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Schedules &amp; webhooks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runs on a cron with Slack / Teams alerts.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Execution, CI &amp; lifecycle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schedule (cron + run config).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Slack/Teams webhook.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once to confirm the alert.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/schedules · /webhooks · /webhooks/:id/test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+ run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exec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fires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9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784348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CI &amp; lifecycle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/ GitHub Action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and gate runs from your pipeline with a CI token.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Execution, CI &amp; lifecycle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a CI token.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step to your pipeline YAML.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the build on the run result.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/ci/token · GET /ci/config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token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step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build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9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784348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CI &amp; lifecycle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Release gate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 run and return a go / no-go decision to deploy.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Execution, CI &amp; lifecycle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gate thresholds.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 run against them.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go / no-go verdict.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/release-gate/evaluate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result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vs gate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9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784348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CI &amp; lifecycle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 run queue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runs across concurrency slots so they do not collide.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Execution, CI &amp; lifecycle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several runs.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them fill concurrency slots.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throughput / ordering.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/exec-queue/enqueue · GET /exec-queue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runs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slots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exec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9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784348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CI &amp; lifecycle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browser lab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UI checks on hosted browsers across a device / browser matrix.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Execution, CI &amp; lifecycle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browser / OS matrix.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run.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per-combination results.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/cloud-labs/run · /cloud-labs/:id/test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matrix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run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results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784348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CI &amp; lifecycle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+ UI hybrid test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state via API, verify it in the UI, then clean up.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Execution, CI &amp; lifecycle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API seed steps.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UI verification steps.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— seed → verify → teardown.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/hybrid · /hybrid/run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verify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cleanup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9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784348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CI &amp; lifecycle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watcher for health, drift and coverage with events.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Execution, CI &amp; lifecycle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 monitor + cadence.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/ let it run.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event stream.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/monitor/run · GET /monitor/events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config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checks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events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9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784348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CI &amp; lifecycle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status page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uptime + SLO page probed on a schedule.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Execution, CI &amp; lifecycle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status page for endpoints.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it + run a probe.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public view URL.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/status-pages · /:id/probe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probe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page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9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784348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CI &amp; lifecycle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Failure → fix workflow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failures → heal → open a PR, in one guided flow.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Execution, CI &amp; lifecycle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 run’s failures.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heal proposals.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remediation PR.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/failures/cluster · /heal/propose · /remediation/pr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+ heal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</a:t>
            </a:r>
            <a:endParaRPr lang="en-US" sz="9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784348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CI &amp; lifecycle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 report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tracker-ready bug report from a failure.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Execution, CI &amp; lifecycle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failed case.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report.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/ push it to the tracker.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/bug-report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report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Tracker-ready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9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784348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CI &amp; lifecycle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Remediation PR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GitHub / GitLab PR containing a proposed changeset.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Execution, CI &amp; lifecycle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repo.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changeset.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PR for review.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/remediation/pr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9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784348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CI &amp; lifecycle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Git-synced tests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pull the catalogue as test-as-code in your repo.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Execution, CI &amp; lifecycle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the git target.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catalogue.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to confirm round-trip.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/git-sync/push · /git-sync/pull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pull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Test-as-code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9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784348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CI &amp; lifecycle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 export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compliance evidence of a run to PDF.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Execution, CI &amp; lifecycle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run.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the evidence.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PDF.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/evidence/export · /evidence/preview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evidence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9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784348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CI &amp; lifecycle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log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and export every recorded action for traceability.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Execution, CI &amp; lifecycle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audit log.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actor / action / date.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filtered set.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/audit · /audit/export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9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784348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CI &amp; lifecycle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Traceability matrix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requirement → test case → defect in one matrix.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Execution, CI &amp; lifecycle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requirements.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cases + defects.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coverage matrix.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GET/POST /requirements · /plans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cases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Req→case→defect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9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784348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CI &amp; lifecycle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management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suites, plans, cycles and assignments.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Execution, CI &amp; lifecycle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suite + plan.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cycle.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cases to testers.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/suites · /plans · /cycles/start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Suites / plans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9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784348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CI &amp; lifecycle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TM connectors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TestRail / Xray / Zephyr / qTest.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Execution, CI &amp; lifecycle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TM connector + creds.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connection test.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cases / results.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/tm-connectors · /:id/export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+ map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cases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9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784348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CI &amp; lifecycle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Approvals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release gating with approver workflows.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Execution, CI &amp; lifecycle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 approval workflow.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an approval request.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(approve / reject) to gate.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/approval-workflows · /approval-requests/act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reject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9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2784348" cy="310896"/>
          </a:xfrm>
          <a:prstGeom prst="roundRect">
            <a:avLst>
              <a:gd name="adj" fmla="val 23529"/>
            </a:avLst>
          </a:prstGeom>
          <a:solidFill>
            <a:srgbClr val="4F46E5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Execution, CI &amp; lifecycle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72768"/>
            <a:ext cx="6720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and version history on the catalogue.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487168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TEST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70632"/>
            <a:ext cx="6720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▸ Execution, CI &amp; lifecycle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3127248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on an endpoint / scenario.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version.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two versions.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5257800"/>
            <a:ext cx="672084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257800"/>
            <a:ext cx="63550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 </a:t>
            </a:r>
            <a:pPr algn="l"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/collab/comments · /collab/versions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543800" y="15727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635240" y="192024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0" y="192024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46920" y="288036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15468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88900" dist="25400" dir="5400000">
              <a:srgbClr val="B9BEC4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0" y="315468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46920" y="4114800"/>
            <a:ext cx="0" cy="27432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635240" y="4389120"/>
            <a:ext cx="4023360" cy="96012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0" y="4389120"/>
            <a:ext cx="3749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 history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64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IntelliQE</a:t>
            </a:r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API Automation — feature testing guide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6480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98</Slides>
  <Notes>98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IntelliQE API Automation — Feature Testing Guide</dc:title>
  <dc:subject>PptxGenJS Presentation</dc:subject>
  <dc:creator>IntelliQE</dc:creator>
  <cp:lastModifiedBy>IntelliQE</cp:lastModifiedBy>
  <cp:revision>1</cp:revision>
  <dcterms:created xsi:type="dcterms:W3CDTF">2026-10-14T11:55:08Z</dcterms:created>
  <dcterms:modified xsi:type="dcterms:W3CDTF">2026-10-14T11:55:08Z</dcterms:modified>
</cp:coreProperties>
</file>