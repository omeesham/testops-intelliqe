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6B2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12801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API Automation — Paid vs Unpaid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83464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E4DCFB"/>
                </a:solidFill>
                <a:latin typeface="Calibri"/>
              </a:rPr>
              <a:t>All 88 features in two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02920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Paid version features  —  22</a:t>
            </a:r>
            <a:r>
              <a:rPr sz="1600" b="1">
                <a:solidFill>
                  <a:srgbClr val="D9CFF7"/>
                </a:solidFill>
                <a:latin typeface="Calibri"/>
              </a:rPr>
              <a:t>     Unpaid version features  —  66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1B2E"/>
                </a:solidFill>
                <a:latin typeface="Calibri"/>
              </a:rPr>
              <a:t>Two groups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80160"/>
            <a:ext cx="5486400" cy="4480560"/>
          </a:xfrm>
          <a:prstGeom prst="roundRect">
            <a:avLst/>
          </a:prstGeom>
          <a:solidFill>
            <a:srgbClr val="FFF4E6"/>
          </a:solidFill>
          <a:ln w="177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5486400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93776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Calibri"/>
              </a:rPr>
              <a:t>Paid version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1B2E"/>
                </a:solidFill>
                <a:latin typeface="Calibri"/>
              </a:rPr>
              <a:t>22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4937760" cy="2834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55566"/>
                </a:solidFill>
                <a:latin typeface="Calibri"/>
              </a:rPr>
              <a:t>Need a paid license, a paid third-party service, or external API keys / credentials to work.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1B2E"/>
                </a:solidFill>
                <a:latin typeface="Calibri"/>
              </a:rPr>
              <a:t>• All AI / LLM authoring &amp; judging tools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1B2E"/>
                </a:solidFill>
                <a:latin typeface="Calibri"/>
              </a:rPr>
              <a:t>• Paid QA SaaS (browser grid, test-management)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1B2E"/>
                </a:solidFill>
                <a:latin typeface="Calibri"/>
              </a:rPr>
              <a:t>• Cloud secret managers &amp; enterprise SSO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1B2E"/>
                </a:solidFill>
                <a:latin typeface="Calibri"/>
              </a:rPr>
              <a:t>• External infra (DB, Kafka, tracing, load agents)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1B2E"/>
                </a:solidFill>
                <a:latin typeface="Calibri"/>
              </a:rPr>
              <a:t>• Git host tokens (PRs, test sync)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80160"/>
            <a:ext cx="5440680" cy="4480560"/>
          </a:xfrm>
          <a:prstGeom prst="roundRect">
            <a:avLst/>
          </a:prstGeom>
          <a:solidFill>
            <a:srgbClr val="ECFAF4"/>
          </a:solidFill>
          <a:ln w="1778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280160"/>
            <a:ext cx="5440680" cy="1463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3776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Calibri"/>
              </a:rPr>
              <a:t>Unpaid version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1B2E"/>
                </a:solidFill>
                <a:latin typeface="Calibri"/>
              </a:rPr>
              <a:t>66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4937760" cy="2834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55566"/>
                </a:solidFill>
                <a:latin typeface="Calibri"/>
              </a:rPr>
              <a:t>Run with IntelliQE and the API you are testing — no license, no paid service, no external keys.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1B2E"/>
                </a:solidFill>
                <a:latin typeface="Calibri"/>
              </a:rPr>
              <a:t>• Generation, security, performance &amp; contracts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1B2E"/>
                </a:solidFill>
                <a:latin typeface="Calibri"/>
              </a:rPr>
              <a:t>• Coverage, intelligence &amp; protocol testing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1B2E"/>
                </a:solidFill>
                <a:latin typeface="Calibri"/>
              </a:rPr>
              <a:t>• Governance, compliance &amp; cost analysis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1B2E"/>
                </a:solidFill>
                <a:latin typeface="Calibri"/>
              </a:rPr>
              <a:t>• CI, scheduling, reporting &amp; test management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1B2E"/>
                </a:solidFill>
                <a:latin typeface="Calibri"/>
              </a:rPr>
              <a:t>• Mocks, virtualization, monitoring &amp; status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91440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E1B2E"/>
                </a:solidFill>
                <a:latin typeface="Calibri"/>
              </a:rPr>
              <a:t>Paid version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384048"/>
            <a:ext cx="128016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84048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96112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5566"/>
                </a:solidFill>
                <a:latin typeface="Calibri"/>
              </a:rPr>
              <a:t>Each needs a paid license, a paid service, or an external API key / credential (shown in brackets).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36118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45336"/>
            <a:ext cx="3282696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LLM providers (OpenAI/Azure/Gemini)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AI coworker (Atto)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Autopilot (autonomous loop)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Story-driven generation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Multimodal inputs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Author in plain English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Chat-to-test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Semantic assertion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6118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45336"/>
            <a:ext cx="3282696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Semantic self-healing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AI / LLM &amp; MCP testing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LLM eval harness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Cloud browser lab (BrowserStack/LambdaTest)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TM connectors (TestRail/Xray/Zephyr/qTest)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OAuth &amp; secrets (Vault/AWS/Azure/GCP)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Access control (SSO / SCIM)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Events &amp; gRPC (Kafka)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417320"/>
            <a:ext cx="36118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545336"/>
            <a:ext cx="3282696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Database validation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Trace correlation (Jaeger/Zipkin)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Distributed cloud load (agents)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Geo / distributed load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Remediation PR (GitHub/GitLab)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F59E0B"/>
                </a:solidFill>
                <a:latin typeface="Calibri"/>
              </a:rPr>
              <a:t>■ </a:t>
            </a:r>
            <a:r>
              <a:rPr sz="1250">
                <a:solidFill>
                  <a:srgbClr val="1E1B2E"/>
                </a:solidFill>
                <a:latin typeface="Calibri"/>
              </a:rPr>
              <a:t>Git-synced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91440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E1B2E"/>
                </a:solidFill>
                <a:latin typeface="Calibri"/>
              </a:rPr>
              <a:t>Unpaid version features  (1 of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384048"/>
            <a:ext cx="128016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84048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96112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5566"/>
                </a:solidFill>
                <a:latin typeface="Calibri"/>
              </a:rPr>
              <a:t>Run free against the API under test — no license, no external keys. (33 of 66)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36118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45336"/>
            <a:ext cx="3282696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Coverage-guided generation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Stateful / white-box generation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Model-based generation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Synthetic data factory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Flow builder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Step groups library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Unified cross-layer test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Autonomous maintenance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Security scan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OWASP API Top-10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Fuzz / property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6118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45336"/>
            <a:ext cx="3282696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Sequence fuzzing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Authorization (BOLA/BFLA)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Deep authorization &amp; exposure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Assertion strength (mutation)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Data classification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OpenAPI security audit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Load test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Load profile &amp; SLA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Distributed load ramp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Chaos / resilience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Contract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417320"/>
            <a:ext cx="36118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545336"/>
            <a:ext cx="3282696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Contract drift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Regression baselines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Breaking-change gate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Record &amp; replay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Pact broker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AsyncAPI contracts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Service virtualization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Hosted mock server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Contract proxy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Test coverage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Traffic coverage gaps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91440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E1B2E"/>
                </a:solidFill>
                <a:latin typeface="Calibri"/>
              </a:rPr>
              <a:t>Unpaid version features  (2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5566"/>
                </a:solidFill>
                <a:latin typeface="Calibri"/>
              </a:rPr>
              <a:t>Coverage, protocols, governance, lifecycle &amp; reporting. (33 of 66)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36118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45336"/>
            <a:ext cx="3282696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Test intelligence (flaky)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Change impact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Suite optimizer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Data-correctness verify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Async &amp; streaming (WS/SSE)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Callback / webhook verification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Data-driven testing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Test data profiles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Traffic capture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Browser recorder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MCP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6118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45336"/>
            <a:ext cx="3282696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API governance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Governance lint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Compliance packs (PCI/HIPAA/GDPR/PSD2)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AI-era compliance (EU AI Act/DORA)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AI cost / FinOps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On-prem / air-gapped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Full-code &amp; Monitoring-as-Code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Schedules &amp; webhooks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CI / GitHub Action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Release gate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Parallel run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417320"/>
            <a:ext cx="36118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45336"/>
            <a:ext cx="3282696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API + UI hybrid test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Monitoring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Public status page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Failure → fix workflow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Bug report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Audit log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Traceability matrix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Test management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Approvals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Collaboration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00">
                <a:solidFill>
                  <a:srgbClr val="10B981"/>
                </a:solidFill>
                <a:latin typeface="Calibri"/>
              </a:rPr>
              <a:t>■ </a:t>
            </a:r>
            <a:r>
              <a:rPr sz="1200">
                <a:solidFill>
                  <a:srgbClr val="1E1B2E"/>
                </a:solidFill>
                <a:latin typeface="Calibri"/>
              </a:rPr>
              <a:t>Evidence export (PDF)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